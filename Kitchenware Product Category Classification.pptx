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Garet Bold" charset="1" panose="00000000000000000000"/>
      <p:regular r:id="rId27"/>
    </p:embeddedFont>
    <p:embeddedFont>
      <p:font typeface="Atkinson Hyperlegible Bold" charset="1" panose="00000000000000000000"/>
      <p:regular r:id="rId28"/>
    </p:embeddedFont>
    <p:embeddedFont>
      <p:font typeface="Atkinson Hyperlegible" charset="1" panose="00000000000000000000"/>
      <p:regular r:id="rId29"/>
    </p:embeddedFont>
    <p:embeddedFont>
      <p:font typeface="Canva Sans Bold" charset="1" panose="020B0803030501040103"/>
      <p:regular r:id="rId30"/>
    </p:embeddedFont>
    <p:embeddedFont>
      <p:font typeface="Canva Sans" charset="1" panose="020B05030305010401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3.png" Type="http://schemas.openxmlformats.org/officeDocument/2006/relationships/image"/><Relationship Id="rId4" Target="../embeddings/oleObject1.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6.png" Type="http://schemas.openxmlformats.org/officeDocument/2006/relationships/image"/><Relationship Id="rId4" Target="../embeddings/oleObject2.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https://www.kaggle.com/datasets/kanchana1990/amazon-kitchen-best-sellers-dataset-2024/data" TargetMode="External" Type="http://schemas.openxmlformats.org/officeDocument/2006/relationships/hyperlink"/></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1721291" y="4873403"/>
            <a:ext cx="3325776" cy="8229600"/>
          </a:xfrm>
          <a:custGeom>
            <a:avLst/>
            <a:gdLst/>
            <a:ahLst/>
            <a:cxnLst/>
            <a:rect r="r" b="b" t="t" l="l"/>
            <a:pathLst>
              <a:path h="8229600" w="3325776">
                <a:moveTo>
                  <a:pt x="0" y="0"/>
                </a:moveTo>
                <a:lnTo>
                  <a:pt x="3325777" y="0"/>
                </a:lnTo>
                <a:lnTo>
                  <a:pt x="332577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0404436" y="-3376814"/>
            <a:ext cx="10881926" cy="11244657"/>
          </a:xfrm>
          <a:custGeom>
            <a:avLst/>
            <a:gdLst/>
            <a:ahLst/>
            <a:cxnLst/>
            <a:rect r="r" b="b" t="t" l="l"/>
            <a:pathLst>
              <a:path h="11244657" w="10881926">
                <a:moveTo>
                  <a:pt x="0" y="0"/>
                </a:moveTo>
                <a:lnTo>
                  <a:pt x="10881926" y="0"/>
                </a:lnTo>
                <a:lnTo>
                  <a:pt x="10881926" y="11244657"/>
                </a:lnTo>
                <a:lnTo>
                  <a:pt x="0" y="11244657"/>
                </a:lnTo>
                <a:lnTo>
                  <a:pt x="0" y="0"/>
                </a:lnTo>
                <a:close/>
              </a:path>
            </a:pathLst>
          </a:custGeom>
          <a:blipFill>
            <a:blip r:embed="rId3">
              <a:alphaModFix amt="68000"/>
            </a:blip>
            <a:stretch>
              <a:fillRect l="0" t="0" r="0" b="0"/>
            </a:stretch>
          </a:blipFill>
        </p:spPr>
      </p:sp>
      <p:sp>
        <p:nvSpPr>
          <p:cNvPr name="Freeform 4" id="4"/>
          <p:cNvSpPr/>
          <p:nvPr/>
        </p:nvSpPr>
        <p:spPr>
          <a:xfrm flipH="false" flipV="false" rot="-6998685">
            <a:off x="-3972652" y="1575518"/>
            <a:ext cx="7945305" cy="8229600"/>
          </a:xfrm>
          <a:custGeom>
            <a:avLst/>
            <a:gdLst/>
            <a:ahLst/>
            <a:cxnLst/>
            <a:rect r="r" b="b" t="t" l="l"/>
            <a:pathLst>
              <a:path h="8229600" w="7945305">
                <a:moveTo>
                  <a:pt x="0" y="0"/>
                </a:moveTo>
                <a:lnTo>
                  <a:pt x="7945304" y="0"/>
                </a:lnTo>
                <a:lnTo>
                  <a:pt x="7945304" y="8229600"/>
                </a:lnTo>
                <a:lnTo>
                  <a:pt x="0" y="8229600"/>
                </a:lnTo>
                <a:lnTo>
                  <a:pt x="0" y="0"/>
                </a:lnTo>
                <a:close/>
              </a:path>
            </a:pathLst>
          </a:custGeom>
          <a:blipFill>
            <a:blip r:embed="rId4">
              <a:alphaModFix amt="68000"/>
            </a:blip>
            <a:stretch>
              <a:fillRect l="0" t="0" r="0" b="0"/>
            </a:stretch>
          </a:blipFill>
        </p:spPr>
      </p:sp>
      <p:sp>
        <p:nvSpPr>
          <p:cNvPr name="TextBox 5" id="5"/>
          <p:cNvSpPr txBox="true"/>
          <p:nvPr/>
        </p:nvSpPr>
        <p:spPr>
          <a:xfrm rot="0">
            <a:off x="2638575" y="4645450"/>
            <a:ext cx="13261610" cy="1825625"/>
          </a:xfrm>
          <a:prstGeom prst="rect">
            <a:avLst/>
          </a:prstGeom>
        </p:spPr>
        <p:txBody>
          <a:bodyPr anchor="t" rtlCol="false" tIns="0" lIns="0" bIns="0" rIns="0">
            <a:spAutoFit/>
          </a:bodyPr>
          <a:lstStyle/>
          <a:p>
            <a:pPr algn="ctr">
              <a:lnSpc>
                <a:spcPts val="4899"/>
              </a:lnSpc>
            </a:pPr>
            <a:r>
              <a:rPr lang="en-US" sz="3499" b="true">
                <a:solidFill>
                  <a:srgbClr val="000000"/>
                </a:solidFill>
                <a:latin typeface="Garet Bold"/>
                <a:ea typeface="Garet Bold"/>
                <a:cs typeface="Garet Bold"/>
                <a:sym typeface="Garet Bold"/>
              </a:rPr>
              <a:t>Predicting Kitchenware Product Category from Price,</a:t>
            </a:r>
          </a:p>
          <a:p>
            <a:pPr algn="ctr">
              <a:lnSpc>
                <a:spcPts val="4899"/>
              </a:lnSpc>
            </a:pPr>
            <a:r>
              <a:rPr lang="en-US" sz="3499" b="true">
                <a:solidFill>
                  <a:srgbClr val="000000"/>
                </a:solidFill>
                <a:latin typeface="Garet Bold"/>
                <a:ea typeface="Garet Bold"/>
                <a:cs typeface="Garet Bold"/>
                <a:sym typeface="Garet Bold"/>
              </a:rPr>
              <a:t>Rating, and Popularity: A Comparative Study of K-</a:t>
            </a:r>
          </a:p>
          <a:p>
            <a:pPr algn="ctr">
              <a:lnSpc>
                <a:spcPts val="4899"/>
              </a:lnSpc>
              <a:spcBef>
                <a:spcPct val="0"/>
              </a:spcBef>
            </a:pPr>
            <a:r>
              <a:rPr lang="en-US" b="true" sz="3499">
                <a:solidFill>
                  <a:srgbClr val="000000"/>
                </a:solidFill>
                <a:latin typeface="Garet Bold"/>
                <a:ea typeface="Garet Bold"/>
                <a:cs typeface="Garet Bold"/>
                <a:sym typeface="Garet Bold"/>
              </a:rPr>
              <a:t>Nearest Neighbors and Naive Bayes in Orange</a:t>
            </a:r>
          </a:p>
        </p:txBody>
      </p:sp>
      <p:sp>
        <p:nvSpPr>
          <p:cNvPr name="Freeform 6" id="6"/>
          <p:cNvSpPr/>
          <p:nvPr/>
        </p:nvSpPr>
        <p:spPr>
          <a:xfrm flipH="false" flipV="false" rot="412381">
            <a:off x="-4164790" y="5159246"/>
            <a:ext cx="7945305" cy="5220919"/>
          </a:xfrm>
          <a:custGeom>
            <a:avLst/>
            <a:gdLst/>
            <a:ahLst/>
            <a:cxnLst/>
            <a:rect r="r" b="b" t="t" l="l"/>
            <a:pathLst>
              <a:path h="5220919" w="7945305">
                <a:moveTo>
                  <a:pt x="0" y="0"/>
                </a:moveTo>
                <a:lnTo>
                  <a:pt x="7945305" y="0"/>
                </a:lnTo>
                <a:lnTo>
                  <a:pt x="7945305" y="5220919"/>
                </a:lnTo>
                <a:lnTo>
                  <a:pt x="0" y="5220919"/>
                </a:lnTo>
                <a:lnTo>
                  <a:pt x="0" y="0"/>
                </a:lnTo>
                <a:close/>
              </a:path>
            </a:pathLst>
          </a:custGeom>
          <a:blipFill>
            <a:blip r:embed="rId4">
              <a:alphaModFix amt="68000"/>
            </a:blip>
            <a:stretch>
              <a:fillRect l="0" t="0" r="0" b="-57627"/>
            </a:stretch>
          </a:blipFill>
        </p:spPr>
      </p:sp>
      <p:grpSp>
        <p:nvGrpSpPr>
          <p:cNvPr name="Group 7" id="7"/>
          <p:cNvGrpSpPr/>
          <p:nvPr/>
        </p:nvGrpSpPr>
        <p:grpSpPr>
          <a:xfrm rot="0">
            <a:off x="4903820" y="8269680"/>
            <a:ext cx="8480359" cy="1029294"/>
            <a:chOff x="0" y="0"/>
            <a:chExt cx="2233510" cy="271090"/>
          </a:xfrm>
        </p:grpSpPr>
        <p:sp>
          <p:nvSpPr>
            <p:cNvPr name="Freeform 8" id="8"/>
            <p:cNvSpPr/>
            <p:nvPr/>
          </p:nvSpPr>
          <p:spPr>
            <a:xfrm flipH="false" flipV="false" rot="0">
              <a:off x="0" y="0"/>
              <a:ext cx="2233510" cy="271090"/>
            </a:xfrm>
            <a:custGeom>
              <a:avLst/>
              <a:gdLst/>
              <a:ahLst/>
              <a:cxnLst/>
              <a:rect r="r" b="b" t="t" l="l"/>
              <a:pathLst>
                <a:path h="271090" w="2233510">
                  <a:moveTo>
                    <a:pt x="53862" y="0"/>
                  </a:moveTo>
                  <a:lnTo>
                    <a:pt x="2179648" y="0"/>
                  </a:lnTo>
                  <a:cubicBezTo>
                    <a:pt x="2209395" y="0"/>
                    <a:pt x="2233510" y="24115"/>
                    <a:pt x="2233510" y="53862"/>
                  </a:cubicBezTo>
                  <a:lnTo>
                    <a:pt x="2233510" y="217227"/>
                  </a:lnTo>
                  <a:cubicBezTo>
                    <a:pt x="2233510" y="246975"/>
                    <a:pt x="2209395" y="271090"/>
                    <a:pt x="2179648" y="271090"/>
                  </a:cubicBezTo>
                  <a:lnTo>
                    <a:pt x="53862" y="271090"/>
                  </a:lnTo>
                  <a:cubicBezTo>
                    <a:pt x="24115" y="271090"/>
                    <a:pt x="0" y="246975"/>
                    <a:pt x="0" y="217227"/>
                  </a:cubicBezTo>
                  <a:lnTo>
                    <a:pt x="0" y="53862"/>
                  </a:lnTo>
                  <a:cubicBezTo>
                    <a:pt x="0" y="24115"/>
                    <a:pt x="24115" y="0"/>
                    <a:pt x="53862" y="0"/>
                  </a:cubicBezTo>
                  <a:close/>
                </a:path>
              </a:pathLst>
            </a:custGeom>
            <a:solidFill>
              <a:srgbClr val="FB9CA0"/>
            </a:solidFill>
            <a:ln w="114300" cap="rnd">
              <a:solidFill>
                <a:srgbClr val="000000"/>
              </a:solidFill>
              <a:prstDash val="solid"/>
              <a:round/>
            </a:ln>
          </p:spPr>
        </p:sp>
        <p:sp>
          <p:nvSpPr>
            <p:cNvPr name="TextBox 9" id="9"/>
            <p:cNvSpPr txBox="true"/>
            <p:nvPr/>
          </p:nvSpPr>
          <p:spPr>
            <a:xfrm>
              <a:off x="0" y="-38100"/>
              <a:ext cx="2233510" cy="30919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024140" y="2923819"/>
            <a:ext cx="12239720" cy="1062061"/>
          </a:xfrm>
          <a:prstGeom prst="rect">
            <a:avLst/>
          </a:prstGeom>
        </p:spPr>
        <p:txBody>
          <a:bodyPr anchor="t" rtlCol="false" tIns="0" lIns="0" bIns="0" rIns="0">
            <a:spAutoFit/>
          </a:bodyPr>
          <a:lstStyle/>
          <a:p>
            <a:pPr algn="ctr">
              <a:lnSpc>
                <a:spcPts val="8661"/>
              </a:lnSpc>
              <a:spcBef>
                <a:spcPct val="0"/>
              </a:spcBef>
            </a:pPr>
            <a:r>
              <a:rPr lang="en-US" b="true" sz="6186">
                <a:solidFill>
                  <a:srgbClr val="000000"/>
                </a:solidFill>
                <a:latin typeface="Atkinson Hyperlegible Bold"/>
                <a:ea typeface="Atkinson Hyperlegible Bold"/>
                <a:cs typeface="Atkinson Hyperlegible Bold"/>
                <a:sym typeface="Atkinson Hyperlegible Bold"/>
              </a:rPr>
              <a:t>Data Mining Assignment</a:t>
            </a:r>
          </a:p>
        </p:txBody>
      </p:sp>
      <p:sp>
        <p:nvSpPr>
          <p:cNvPr name="TextBox 11" id="11"/>
          <p:cNvSpPr txBox="true"/>
          <p:nvPr/>
        </p:nvSpPr>
        <p:spPr>
          <a:xfrm rot="0">
            <a:off x="5276159" y="8523302"/>
            <a:ext cx="7735682" cy="464901"/>
          </a:xfrm>
          <a:prstGeom prst="rect">
            <a:avLst/>
          </a:prstGeom>
        </p:spPr>
        <p:txBody>
          <a:bodyPr anchor="t" rtlCol="false" tIns="0" lIns="0" bIns="0" rIns="0">
            <a:spAutoFit/>
          </a:bodyPr>
          <a:lstStyle/>
          <a:p>
            <a:pPr algn="ctr">
              <a:lnSpc>
                <a:spcPts val="3775"/>
              </a:lnSpc>
              <a:spcBef>
                <a:spcPct val="0"/>
              </a:spcBef>
            </a:pPr>
            <a:r>
              <a:rPr lang="en-US" sz="2696">
                <a:solidFill>
                  <a:srgbClr val="000000"/>
                </a:solidFill>
                <a:latin typeface="Atkinson Hyperlegible"/>
                <a:ea typeface="Atkinson Hyperlegible"/>
                <a:cs typeface="Atkinson Hyperlegible"/>
                <a:sym typeface="Atkinson Hyperlegible"/>
              </a:rPr>
              <a:t>Smitashree Das | PRN -25060242136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TextBox 7" id="7"/>
          <p:cNvSpPr txBox="true"/>
          <p:nvPr/>
        </p:nvSpPr>
        <p:spPr>
          <a:xfrm rot="0">
            <a:off x="1287429" y="3101687"/>
            <a:ext cx="15713141" cy="6159501"/>
          </a:xfrm>
          <a:prstGeom prst="rect">
            <a:avLst/>
          </a:prstGeom>
        </p:spPr>
        <p:txBody>
          <a:bodyPr anchor="t" rtlCol="false" tIns="0" lIns="0" bIns="0" rIns="0">
            <a:spAutoFit/>
          </a:bodyPr>
          <a:lstStyle/>
          <a:p>
            <a:pPr algn="just">
              <a:lnSpc>
                <a:spcPts val="4899"/>
              </a:lnSpc>
              <a:spcBef>
                <a:spcPct val="0"/>
              </a:spcBef>
            </a:pPr>
            <a:r>
              <a:rPr lang="en-US" sz="3499">
                <a:solidFill>
                  <a:srgbClr val="000000"/>
                </a:solidFill>
                <a:latin typeface="Atkinson Hyperlegible"/>
                <a:ea typeface="Atkinson Hyperlegible"/>
                <a:cs typeface="Atkinson Hyperlegible"/>
                <a:sym typeface="Atkinson Hyperlegible"/>
              </a:rPr>
              <a:t>EKitchenware is one of the diverse categories on e-commerce platforms such as Amazon, with products ranging from cookware and utensils to storage products, cleaning supplies, and appliances. These products are offered by a large number of brands and differ considerably in terms of price and popularity. This study investigates whether the broad category of a kitchenware product can be predicted using its price, star rating, review count, and brand, without relying on the product title or description. The study uses 262 real Amazon kitchenware listings from approximately 192 brands and applies two classification techniques, K-Nearest Neighbors (KNN) and Naive Bayes, to examine the predictive ability of these product attributes. </a:t>
            </a:r>
          </a:p>
        </p:txBody>
      </p:sp>
      <p:sp>
        <p:nvSpPr>
          <p:cNvPr name="TextBox 8" id="8"/>
          <p:cNvSpPr txBox="true"/>
          <p:nvPr/>
        </p:nvSpPr>
        <p:spPr>
          <a:xfrm rot="0">
            <a:off x="-3866370" y="616585"/>
            <a:ext cx="14088837"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1.Introduction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4074069">
            <a:off x="6222302" y="-1823593"/>
            <a:ext cx="6100195" cy="6305111"/>
          </a:xfrm>
          <a:custGeom>
            <a:avLst/>
            <a:gdLst/>
            <a:ahLst/>
            <a:cxnLst/>
            <a:rect r="r" b="b" t="t" l="l"/>
            <a:pathLst>
              <a:path h="6305111" w="6100195">
                <a:moveTo>
                  <a:pt x="0" y="0"/>
                </a:moveTo>
                <a:lnTo>
                  <a:pt x="6100194" y="0"/>
                </a:lnTo>
                <a:lnTo>
                  <a:pt x="6100194" y="6305111"/>
                </a:lnTo>
                <a:lnTo>
                  <a:pt x="0" y="6305111"/>
                </a:lnTo>
                <a:lnTo>
                  <a:pt x="0" y="0"/>
                </a:lnTo>
                <a:close/>
              </a:path>
            </a:pathLst>
          </a:custGeom>
          <a:blipFill>
            <a:blip r:embed="rId2">
              <a:alphaModFix amt="59000"/>
            </a:blip>
            <a:stretch>
              <a:fillRect l="0" t="0" r="0" b="0"/>
            </a:stretch>
          </a:blipFill>
        </p:spPr>
      </p:sp>
      <p:grpSp>
        <p:nvGrpSpPr>
          <p:cNvPr name="Group 3" id="3"/>
          <p:cNvGrpSpPr/>
          <p:nvPr/>
        </p:nvGrpSpPr>
        <p:grpSpPr>
          <a:xfrm rot="0">
            <a:off x="9272399" y="-161925"/>
            <a:ext cx="9100714" cy="10448925"/>
            <a:chOff x="0" y="0"/>
            <a:chExt cx="2396896" cy="2751980"/>
          </a:xfrm>
        </p:grpSpPr>
        <p:sp>
          <p:nvSpPr>
            <p:cNvPr name="Freeform 4" id="4"/>
            <p:cNvSpPr/>
            <p:nvPr/>
          </p:nvSpPr>
          <p:spPr>
            <a:xfrm flipH="false" flipV="false" rot="0">
              <a:off x="0" y="0"/>
              <a:ext cx="2396896" cy="2751980"/>
            </a:xfrm>
            <a:custGeom>
              <a:avLst/>
              <a:gdLst/>
              <a:ahLst/>
              <a:cxnLst/>
              <a:rect r="r" b="b" t="t" l="l"/>
              <a:pathLst>
                <a:path h="2751980" w="2396896">
                  <a:moveTo>
                    <a:pt x="0" y="0"/>
                  </a:moveTo>
                  <a:lnTo>
                    <a:pt x="2396896" y="0"/>
                  </a:lnTo>
                  <a:lnTo>
                    <a:pt x="2396896" y="2751980"/>
                  </a:lnTo>
                  <a:lnTo>
                    <a:pt x="0" y="2751980"/>
                  </a:lnTo>
                  <a:close/>
                </a:path>
              </a:pathLst>
            </a:custGeom>
            <a:solidFill>
              <a:srgbClr val="FBF7C4"/>
            </a:solidFill>
            <a:ln w="28575" cap="sq">
              <a:solidFill>
                <a:srgbClr val="000000"/>
              </a:solidFill>
              <a:prstDash val="solid"/>
              <a:miter/>
            </a:ln>
          </p:spPr>
        </p:sp>
        <p:sp>
          <p:nvSpPr>
            <p:cNvPr name="TextBox 5" id="5"/>
            <p:cNvSpPr txBox="true"/>
            <p:nvPr/>
          </p:nvSpPr>
          <p:spPr>
            <a:xfrm>
              <a:off x="0" y="-38100"/>
              <a:ext cx="2396896" cy="279008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160151" y="4740910"/>
            <a:ext cx="7099149" cy="728980"/>
          </a:xfrm>
          <a:prstGeom prst="rect">
            <a:avLst/>
          </a:prstGeom>
        </p:spPr>
        <p:txBody>
          <a:bodyPr anchor="t" rtlCol="false" tIns="0" lIns="0" bIns="0" rIns="0">
            <a:spAutoFit/>
          </a:bodyPr>
          <a:lstStyle/>
          <a:p>
            <a:pPr algn="ctr">
              <a:lnSpc>
                <a:spcPts val="6020"/>
              </a:lnSpc>
              <a:spcBef>
                <a:spcPct val="0"/>
              </a:spcBef>
            </a:pPr>
            <a:r>
              <a:rPr lang="en-US" b="true" sz="4300">
                <a:solidFill>
                  <a:srgbClr val="000000"/>
                </a:solidFill>
                <a:latin typeface="Garet Bold"/>
                <a:ea typeface="Garet Bold"/>
                <a:cs typeface="Garet Bold"/>
                <a:sym typeface="Garet Bold"/>
              </a:rPr>
              <a:t>2.Objectives</a:t>
            </a:r>
          </a:p>
        </p:txBody>
      </p:sp>
      <p:sp>
        <p:nvSpPr>
          <p:cNvPr name="TextBox 7" id="7"/>
          <p:cNvSpPr txBox="true"/>
          <p:nvPr/>
        </p:nvSpPr>
        <p:spPr>
          <a:xfrm rot="0">
            <a:off x="239350" y="705484"/>
            <a:ext cx="8691006" cy="9581516"/>
          </a:xfrm>
          <a:prstGeom prst="rect">
            <a:avLst/>
          </a:prstGeom>
        </p:spPr>
        <p:txBody>
          <a:bodyPr anchor="t" rtlCol="false" tIns="0" lIns="0" bIns="0" rIns="0">
            <a:spAutoFit/>
          </a:bodyPr>
          <a:lstStyle/>
          <a:p>
            <a:pPr algn="just" marL="734053" indent="-367026" lvl="1">
              <a:lnSpc>
                <a:spcPts val="4759"/>
              </a:lnSpc>
              <a:buFont typeface="Arial"/>
              <a:buChar char="•"/>
            </a:pPr>
            <a:r>
              <a:rPr lang="en-US" sz="3399">
                <a:solidFill>
                  <a:srgbClr val="000000"/>
                </a:solidFill>
                <a:latin typeface="Atkinson Hyperlegible"/>
                <a:ea typeface="Atkinson Hyperlegible"/>
                <a:cs typeface="Atkinson Hyperlegible"/>
                <a:sym typeface="Atkinson Hyperlegible"/>
              </a:rPr>
              <a:t>Classify kitchenware products into five broad categories using price, rating, review count and brand.</a:t>
            </a:r>
          </a:p>
          <a:p>
            <a:pPr algn="just">
              <a:lnSpc>
                <a:spcPts val="4759"/>
              </a:lnSpc>
            </a:pPr>
          </a:p>
          <a:p>
            <a:pPr algn="just" marL="734053" indent="-367026" lvl="1">
              <a:lnSpc>
                <a:spcPts val="4759"/>
              </a:lnSpc>
              <a:buFont typeface="Arial"/>
              <a:buChar char="•"/>
            </a:pPr>
            <a:r>
              <a:rPr lang="en-US" sz="3399">
                <a:solidFill>
                  <a:srgbClr val="000000"/>
                </a:solidFill>
                <a:latin typeface="Atkinson Hyperlegible"/>
                <a:ea typeface="Atkinson Hyperlegible"/>
                <a:cs typeface="Atkinson Hyperlegible"/>
                <a:sym typeface="Atkinson Hyperlegible"/>
              </a:rPr>
              <a:t>Develop a KNN model to predict product categories based on similarity between products.</a:t>
            </a:r>
          </a:p>
          <a:p>
            <a:pPr algn="just">
              <a:lnSpc>
                <a:spcPts val="4759"/>
              </a:lnSpc>
            </a:pPr>
          </a:p>
          <a:p>
            <a:pPr algn="just" marL="734053" indent="-367026" lvl="1">
              <a:lnSpc>
                <a:spcPts val="4759"/>
              </a:lnSpc>
              <a:buFont typeface="Arial"/>
              <a:buChar char="•"/>
            </a:pPr>
            <a:r>
              <a:rPr lang="en-US" sz="3399">
                <a:solidFill>
                  <a:srgbClr val="000000"/>
                </a:solidFill>
                <a:latin typeface="Atkinson Hyperlegible"/>
                <a:ea typeface="Atkinson Hyperlegible"/>
                <a:cs typeface="Atkinson Hyperlegible"/>
                <a:sym typeface="Atkinson Hyperlegible"/>
              </a:rPr>
              <a:t>Compare KNN and Naive Bayes using accuracy, precision, recall, AUC and confusion matrix.</a:t>
            </a:r>
          </a:p>
          <a:p>
            <a:pPr algn="just">
              <a:lnSpc>
                <a:spcPts val="4759"/>
              </a:lnSpc>
            </a:pPr>
          </a:p>
          <a:p>
            <a:pPr algn="just" marL="734053" indent="-367026" lvl="1">
              <a:lnSpc>
                <a:spcPts val="4759"/>
              </a:lnSpc>
              <a:spcBef>
                <a:spcPct val="0"/>
              </a:spcBef>
              <a:buFont typeface="Arial"/>
              <a:buChar char="•"/>
            </a:pPr>
            <a:r>
              <a:rPr lang="en-US" sz="3399">
                <a:solidFill>
                  <a:srgbClr val="000000"/>
                </a:solidFill>
                <a:latin typeface="Atkinson Hyperlegible"/>
                <a:ea typeface="Atkinson Hyperlegible"/>
                <a:cs typeface="Atkinson Hyperlegible"/>
                <a:sym typeface="Atkinson Hyperlegible"/>
              </a:rPr>
              <a:t>Analyse business patterns in pricing, ratings and model performance across different types of brands.</a:t>
            </a:r>
          </a:p>
          <a:p>
            <a:pPr algn="just">
              <a:lnSpc>
                <a:spcPts val="4759"/>
              </a:lnSpc>
              <a:spcBef>
                <a:spcPct val="0"/>
              </a:spcBef>
            </a:pPr>
          </a:p>
        </p:txBody>
      </p:sp>
      <p:sp>
        <p:nvSpPr>
          <p:cNvPr name="Freeform 8" id="8"/>
          <p:cNvSpPr/>
          <p:nvPr/>
        </p:nvSpPr>
        <p:spPr>
          <a:xfrm flipH="false" flipV="false" rot="-4074069">
            <a:off x="-834999" y="8690756"/>
            <a:ext cx="3088733" cy="3192489"/>
          </a:xfrm>
          <a:custGeom>
            <a:avLst/>
            <a:gdLst/>
            <a:ahLst/>
            <a:cxnLst/>
            <a:rect r="r" b="b" t="t" l="l"/>
            <a:pathLst>
              <a:path h="3192489" w="3088733">
                <a:moveTo>
                  <a:pt x="0" y="0"/>
                </a:moveTo>
                <a:lnTo>
                  <a:pt x="3088733" y="0"/>
                </a:lnTo>
                <a:lnTo>
                  <a:pt x="3088733" y="3192488"/>
                </a:lnTo>
                <a:lnTo>
                  <a:pt x="0" y="3192488"/>
                </a:lnTo>
                <a:lnTo>
                  <a:pt x="0" y="0"/>
                </a:lnTo>
                <a:close/>
              </a:path>
            </a:pathLst>
          </a:custGeom>
          <a:blipFill>
            <a:blip r:embed="rId2">
              <a:alphaModFix amt="34000"/>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5629890">
            <a:off x="14861289" y="-787747"/>
            <a:ext cx="5027969" cy="4159501"/>
          </a:xfrm>
          <a:custGeom>
            <a:avLst/>
            <a:gdLst/>
            <a:ahLst/>
            <a:cxnLst/>
            <a:rect r="r" b="b" t="t" l="l"/>
            <a:pathLst>
              <a:path h="4159501" w="5027969">
                <a:moveTo>
                  <a:pt x="0" y="0"/>
                </a:moveTo>
                <a:lnTo>
                  <a:pt x="5027969" y="0"/>
                </a:lnTo>
                <a:lnTo>
                  <a:pt x="5027969" y="4159501"/>
                </a:lnTo>
                <a:lnTo>
                  <a:pt x="0" y="4159501"/>
                </a:lnTo>
                <a:lnTo>
                  <a:pt x="0" y="0"/>
                </a:lnTo>
                <a:close/>
              </a:path>
            </a:pathLst>
          </a:custGeom>
          <a:blipFill>
            <a:blip r:embed="rId2"/>
            <a:stretch>
              <a:fillRect l="0" t="0" r="0" b="0"/>
            </a:stretch>
          </a:blipFill>
        </p:spPr>
      </p:sp>
      <p:sp>
        <p:nvSpPr>
          <p:cNvPr name="Freeform 3" id="3"/>
          <p:cNvSpPr/>
          <p:nvPr/>
        </p:nvSpPr>
        <p:spPr>
          <a:xfrm flipH="false" flipV="false" rot="-10080930">
            <a:off x="11588402" y="8383649"/>
            <a:ext cx="7087557" cy="5863343"/>
          </a:xfrm>
          <a:custGeom>
            <a:avLst/>
            <a:gdLst/>
            <a:ahLst/>
            <a:cxnLst/>
            <a:rect r="r" b="b" t="t" l="l"/>
            <a:pathLst>
              <a:path h="5863343" w="7087557">
                <a:moveTo>
                  <a:pt x="0" y="0"/>
                </a:moveTo>
                <a:lnTo>
                  <a:pt x="7087557" y="0"/>
                </a:lnTo>
                <a:lnTo>
                  <a:pt x="7087557" y="5863343"/>
                </a:lnTo>
                <a:lnTo>
                  <a:pt x="0" y="5863343"/>
                </a:lnTo>
                <a:lnTo>
                  <a:pt x="0" y="0"/>
                </a:lnTo>
                <a:close/>
              </a:path>
            </a:pathLst>
          </a:custGeom>
          <a:blipFill>
            <a:blip r:embed="rId2"/>
            <a:stretch>
              <a:fillRect l="0" t="0" r="0" b="0"/>
            </a:stretch>
          </a:blipFill>
        </p:spPr>
      </p:sp>
      <p:sp>
        <p:nvSpPr>
          <p:cNvPr name="Freeform 4" id="4"/>
          <p:cNvSpPr/>
          <p:nvPr/>
        </p:nvSpPr>
        <p:spPr>
          <a:xfrm flipH="false" flipV="false" rot="-5629890">
            <a:off x="-2882216" y="6662890"/>
            <a:ext cx="7486171" cy="6193105"/>
          </a:xfrm>
          <a:custGeom>
            <a:avLst/>
            <a:gdLst/>
            <a:ahLst/>
            <a:cxnLst/>
            <a:rect r="r" b="b" t="t" l="l"/>
            <a:pathLst>
              <a:path h="6193105" w="7486171">
                <a:moveTo>
                  <a:pt x="0" y="0"/>
                </a:moveTo>
                <a:lnTo>
                  <a:pt x="7486171" y="0"/>
                </a:lnTo>
                <a:lnTo>
                  <a:pt x="7486171" y="6193105"/>
                </a:lnTo>
                <a:lnTo>
                  <a:pt x="0" y="6193105"/>
                </a:lnTo>
                <a:lnTo>
                  <a:pt x="0" y="0"/>
                </a:lnTo>
                <a:close/>
              </a:path>
            </a:pathLst>
          </a:custGeom>
          <a:blipFill>
            <a:blip r:embed="rId2"/>
            <a:stretch>
              <a:fillRect l="0" t="0" r="0" b="0"/>
            </a:stretch>
          </a:blipFill>
        </p:spPr>
      </p:sp>
      <p:sp>
        <p:nvSpPr>
          <p:cNvPr name="Freeform 5" id="5"/>
          <p:cNvSpPr/>
          <p:nvPr/>
        </p:nvSpPr>
        <p:spPr>
          <a:xfrm flipH="false" flipV="false" rot="0">
            <a:off x="284029" y="2495607"/>
            <a:ext cx="6376839" cy="7581332"/>
          </a:xfrm>
          <a:custGeom>
            <a:avLst/>
            <a:gdLst/>
            <a:ahLst/>
            <a:cxnLst/>
            <a:rect r="r" b="b" t="t" l="l"/>
            <a:pathLst>
              <a:path h="7581332" w="6376839">
                <a:moveTo>
                  <a:pt x="0" y="0"/>
                </a:moveTo>
                <a:lnTo>
                  <a:pt x="6376839" y="0"/>
                </a:lnTo>
                <a:lnTo>
                  <a:pt x="6376839" y="7581333"/>
                </a:lnTo>
                <a:lnTo>
                  <a:pt x="0" y="7581333"/>
                </a:lnTo>
                <a:lnTo>
                  <a:pt x="0" y="0"/>
                </a:lnTo>
                <a:close/>
              </a:path>
            </a:pathLst>
          </a:custGeom>
          <a:blipFill>
            <a:blip r:embed="rId3"/>
            <a:stretch>
              <a:fillRect l="0" t="0" r="0" b="-4245"/>
            </a:stretch>
          </a:blipFill>
          <a:ln w="38100" cap="sq">
            <a:solidFill>
              <a:srgbClr val="000000"/>
            </a:solidFill>
            <a:prstDash val="solid"/>
            <a:miter/>
          </a:ln>
        </p:spPr>
      </p:sp>
      <p:sp>
        <p:nvSpPr>
          <p:cNvPr name="TextBox 6" id="6"/>
          <p:cNvSpPr txBox="true"/>
          <p:nvPr/>
        </p:nvSpPr>
        <p:spPr>
          <a:xfrm rot="0">
            <a:off x="2830318" y="626110"/>
            <a:ext cx="11976361" cy="728980"/>
          </a:xfrm>
          <a:prstGeom prst="rect">
            <a:avLst/>
          </a:prstGeom>
        </p:spPr>
        <p:txBody>
          <a:bodyPr anchor="t" rtlCol="false" tIns="0" lIns="0" bIns="0" rIns="0">
            <a:spAutoFit/>
          </a:bodyPr>
          <a:lstStyle/>
          <a:p>
            <a:pPr algn="ctr">
              <a:lnSpc>
                <a:spcPts val="6020"/>
              </a:lnSpc>
              <a:spcBef>
                <a:spcPct val="0"/>
              </a:spcBef>
            </a:pPr>
            <a:r>
              <a:rPr lang="en-US" b="true" sz="4300">
                <a:solidFill>
                  <a:srgbClr val="000000"/>
                </a:solidFill>
                <a:latin typeface="Garet Bold"/>
                <a:ea typeface="Garet Bold"/>
                <a:cs typeface="Garet Bold"/>
                <a:sym typeface="Garet Bold"/>
              </a:rPr>
              <a:t>3.Dataset Description</a:t>
            </a:r>
          </a:p>
        </p:txBody>
      </p:sp>
      <p:sp>
        <p:nvSpPr>
          <p:cNvPr name="TextBox 7" id="7"/>
          <p:cNvSpPr txBox="true"/>
          <p:nvPr/>
        </p:nvSpPr>
        <p:spPr>
          <a:xfrm rot="0">
            <a:off x="6972267" y="2670553"/>
            <a:ext cx="6822221" cy="295656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Canva Sans Bold"/>
                <a:ea typeface="Canva Sans Bold"/>
                <a:cs typeface="Canva Sans Bold"/>
                <a:sym typeface="Canva Sans Bold"/>
              </a:rPr>
              <a:t>Category Distribution</a:t>
            </a:r>
          </a:p>
          <a:p>
            <a:pPr algn="l">
              <a:lnSpc>
                <a:spcPts val="2940"/>
              </a:lnSpc>
              <a:spcBef>
                <a:spcPct val="0"/>
              </a:spcBef>
            </a:pPr>
          </a:p>
          <a:p>
            <a:pPr algn="l">
              <a:lnSpc>
                <a:spcPts val="2940"/>
              </a:lnSpc>
              <a:spcBef>
                <a:spcPct val="0"/>
              </a:spcBef>
            </a:pPr>
            <a:r>
              <a:rPr lang="en-US" sz="2100">
                <a:solidFill>
                  <a:srgbClr val="000000"/>
                </a:solidFill>
                <a:latin typeface="Canva Sans"/>
                <a:ea typeface="Canva Sans"/>
                <a:cs typeface="Canva Sans"/>
                <a:sym typeface="Canva Sans"/>
              </a:rPr>
              <a:t>The products are classified into 5 categories :</a:t>
            </a:r>
          </a:p>
          <a:p>
            <a:pPr algn="l">
              <a:lnSpc>
                <a:spcPts val="2940"/>
              </a:lnSpc>
              <a:spcBef>
                <a:spcPct val="0"/>
              </a:spcBef>
            </a:pPr>
            <a:r>
              <a:rPr lang="en-US" sz="2100">
                <a:solidFill>
                  <a:srgbClr val="000000"/>
                </a:solidFill>
                <a:latin typeface="Canva Sans"/>
                <a:ea typeface="Canva Sans"/>
                <a:cs typeface="Canva Sans"/>
                <a:sym typeface="Canva Sans"/>
              </a:rPr>
              <a:t>Utensils &amp; Gadgets — 101</a:t>
            </a:r>
          </a:p>
          <a:p>
            <a:pPr algn="l">
              <a:lnSpc>
                <a:spcPts val="2940"/>
              </a:lnSpc>
              <a:spcBef>
                <a:spcPct val="0"/>
              </a:spcBef>
            </a:pPr>
            <a:r>
              <a:rPr lang="en-US" sz="2100">
                <a:solidFill>
                  <a:srgbClr val="000000"/>
                </a:solidFill>
                <a:latin typeface="Canva Sans"/>
                <a:ea typeface="Canva Sans"/>
                <a:cs typeface="Canva Sans"/>
                <a:sym typeface="Canva Sans"/>
              </a:rPr>
              <a:t>Storage &amp; Organization — 61</a:t>
            </a:r>
          </a:p>
          <a:p>
            <a:pPr algn="l">
              <a:lnSpc>
                <a:spcPts val="2940"/>
              </a:lnSpc>
              <a:spcBef>
                <a:spcPct val="0"/>
              </a:spcBef>
            </a:pPr>
            <a:r>
              <a:rPr lang="en-US" sz="2100">
                <a:solidFill>
                  <a:srgbClr val="000000"/>
                </a:solidFill>
                <a:latin typeface="Canva Sans"/>
                <a:ea typeface="Canva Sans"/>
                <a:cs typeface="Canva Sans"/>
                <a:sym typeface="Canva Sans"/>
              </a:rPr>
              <a:t>Cleaning Supplies — 47</a:t>
            </a:r>
          </a:p>
          <a:p>
            <a:pPr algn="l">
              <a:lnSpc>
                <a:spcPts val="2940"/>
              </a:lnSpc>
              <a:spcBef>
                <a:spcPct val="0"/>
              </a:spcBef>
            </a:pPr>
            <a:r>
              <a:rPr lang="en-US" sz="2100">
                <a:solidFill>
                  <a:srgbClr val="000000"/>
                </a:solidFill>
                <a:latin typeface="Canva Sans"/>
                <a:ea typeface="Canva Sans"/>
                <a:cs typeface="Canva Sans"/>
                <a:sym typeface="Canva Sans"/>
              </a:rPr>
              <a:t>Appliances — 30</a:t>
            </a:r>
          </a:p>
          <a:p>
            <a:pPr algn="l">
              <a:lnSpc>
                <a:spcPts val="2940"/>
              </a:lnSpc>
              <a:spcBef>
                <a:spcPct val="0"/>
              </a:spcBef>
            </a:pPr>
            <a:r>
              <a:rPr lang="en-US" sz="2100">
                <a:solidFill>
                  <a:srgbClr val="000000"/>
                </a:solidFill>
                <a:latin typeface="Canva Sans"/>
                <a:ea typeface="Canva Sans"/>
                <a:cs typeface="Canva Sans"/>
                <a:sym typeface="Canva Sans"/>
              </a:rPr>
              <a:t>Cookware — 23</a:t>
            </a:r>
          </a:p>
        </p:txBody>
      </p:sp>
      <p:sp>
        <p:nvSpPr>
          <p:cNvPr name="TextBox 8" id="8"/>
          <p:cNvSpPr txBox="true"/>
          <p:nvPr/>
        </p:nvSpPr>
        <p:spPr>
          <a:xfrm rot="0">
            <a:off x="6972267" y="5960488"/>
            <a:ext cx="10667828" cy="3879342"/>
          </a:xfrm>
          <a:prstGeom prst="rect">
            <a:avLst/>
          </a:prstGeom>
        </p:spPr>
        <p:txBody>
          <a:bodyPr anchor="t" rtlCol="false" tIns="0" lIns="0" bIns="0" rIns="0">
            <a:spAutoFit/>
          </a:bodyPr>
          <a:lstStyle/>
          <a:p>
            <a:pPr algn="just">
              <a:lnSpc>
                <a:spcPts val="2243"/>
              </a:lnSpc>
            </a:pPr>
            <a:r>
              <a:rPr lang="en-US" b="true" sz="2199">
                <a:solidFill>
                  <a:srgbClr val="000000"/>
                </a:solidFill>
                <a:latin typeface="Canva Sans Bold"/>
                <a:ea typeface="Canva Sans Bold"/>
                <a:cs typeface="Canva Sans Bold"/>
                <a:sym typeface="Canva Sans Bold"/>
              </a:rPr>
              <a:t>Pre Processing  </a:t>
            </a:r>
            <a:r>
              <a:rPr lang="en-US" b="true" sz="2199">
                <a:solidFill>
                  <a:srgbClr val="000000"/>
                </a:solidFill>
                <a:latin typeface="Canva Sans Bold"/>
                <a:ea typeface="Canva Sans Bold"/>
                <a:cs typeface="Canva Sans Bold"/>
                <a:sym typeface="Canva Sans Bold"/>
              </a:rPr>
              <a:t>steps: </a:t>
            </a:r>
          </a:p>
          <a:p>
            <a:pPr algn="just">
              <a:lnSpc>
                <a:spcPts val="2243"/>
              </a:lnSpc>
            </a:pPr>
          </a:p>
          <a:p>
            <a:pPr algn="just">
              <a:lnSpc>
                <a:spcPts val="2243"/>
              </a:lnSpc>
            </a:pPr>
            <a:r>
              <a:rPr lang="en-US" sz="2199">
                <a:solidFill>
                  <a:srgbClr val="000000"/>
                </a:solidFill>
                <a:latin typeface="Canva Sans"/>
                <a:ea typeface="Canva Sans"/>
                <a:cs typeface="Canva Sans"/>
                <a:sym typeface="Canva Sans"/>
              </a:rPr>
              <a:t>Missing prices (3 rows) imputed using the median price of the product’s own category. description dropped (180 of 262 values missing; not used as a feature). </a:t>
            </a:r>
          </a:p>
          <a:p>
            <a:pPr algn="just">
              <a:lnSpc>
                <a:spcPts val="2243"/>
              </a:lnSpc>
            </a:pPr>
          </a:p>
          <a:p>
            <a:pPr algn="just">
              <a:lnSpc>
                <a:spcPts val="2243"/>
              </a:lnSpc>
            </a:pPr>
            <a:r>
              <a:rPr lang="en-US" sz="2199">
                <a:solidFill>
                  <a:srgbClr val="000000"/>
                </a:solidFill>
                <a:latin typeface="Canva Sans"/>
                <a:ea typeface="Canva Sans"/>
                <a:cs typeface="Canva Sans"/>
                <a:sym typeface="Canva Sans"/>
              </a:rPr>
              <a:t>Brand simplification: of 192 unique brands, 156 appeared only once. </a:t>
            </a:r>
          </a:p>
          <a:p>
            <a:pPr algn="just">
              <a:lnSpc>
                <a:spcPts val="2243"/>
              </a:lnSpc>
            </a:pPr>
          </a:p>
          <a:p>
            <a:pPr algn="just">
              <a:lnSpc>
                <a:spcPts val="2243"/>
              </a:lnSpc>
            </a:pPr>
            <a:r>
              <a:rPr lang="en-US" sz="2199">
                <a:solidFill>
                  <a:srgbClr val="000000"/>
                </a:solidFill>
                <a:latin typeface="Canva Sans"/>
                <a:ea typeface="Canva Sans"/>
                <a:cs typeface="Canva Sans"/>
                <a:sym typeface="Canva Sans"/>
              </a:rPr>
              <a:t>The top 15 most frequent brands were kept individually; all others grouped into "Other" . </a:t>
            </a:r>
          </a:p>
          <a:p>
            <a:pPr algn="just">
              <a:lnSpc>
                <a:spcPts val="2243"/>
              </a:lnSpc>
            </a:pPr>
          </a:p>
          <a:p>
            <a:pPr algn="just">
              <a:lnSpc>
                <a:spcPts val="2243"/>
              </a:lnSpc>
            </a:pPr>
            <a:r>
              <a:rPr lang="en-US" sz="2199">
                <a:solidFill>
                  <a:srgbClr val="000000"/>
                </a:solidFill>
                <a:latin typeface="Canva Sans"/>
                <a:ea typeface="Canva Sans"/>
                <a:cs typeface="Canva Sans"/>
                <a:sym typeface="Canva Sans"/>
              </a:rPr>
              <a:t>Final modeling table: title (meta), brand (categorical), stars (numeric), reviewsCount (numeric), price (numeric), Category (categorical target) — 262 rows, zero missing values.</a:t>
            </a:r>
          </a:p>
        </p:txBody>
      </p:sp>
      <p:sp>
        <p:nvSpPr>
          <p:cNvPr name="TextBox 9" id="9"/>
          <p:cNvSpPr txBox="true"/>
          <p:nvPr/>
        </p:nvSpPr>
        <p:spPr>
          <a:xfrm rot="0">
            <a:off x="284029" y="1609468"/>
            <a:ext cx="17152726" cy="1099185"/>
          </a:xfrm>
          <a:prstGeom prst="rect">
            <a:avLst/>
          </a:prstGeom>
        </p:spPr>
        <p:txBody>
          <a:bodyPr anchor="t" rtlCol="false" tIns="0" lIns="0" bIns="0" rIns="0">
            <a:spAutoFit/>
          </a:bodyPr>
          <a:lstStyle/>
          <a:p>
            <a:pPr algn="just">
              <a:lnSpc>
                <a:spcPts val="2940"/>
              </a:lnSpc>
              <a:spcBef>
                <a:spcPct val="0"/>
              </a:spcBef>
            </a:pPr>
            <a:r>
              <a:rPr lang="en-US" sz="2100">
                <a:solidFill>
                  <a:srgbClr val="000000"/>
                </a:solidFill>
                <a:latin typeface="Canva Sans"/>
                <a:ea typeface="Canva Sans"/>
                <a:cs typeface="Canva Sans"/>
                <a:sym typeface="Canva Sans"/>
              </a:rPr>
              <a:t>The d</a:t>
            </a:r>
            <a:r>
              <a:rPr lang="en-US" sz="2100">
                <a:solidFill>
                  <a:srgbClr val="000000"/>
                </a:solidFill>
                <a:latin typeface="Canva Sans"/>
                <a:ea typeface="Canva Sans"/>
                <a:cs typeface="Canva Sans"/>
                <a:sym typeface="Canva Sans"/>
              </a:rPr>
              <a:t>ataset contains information on 262 kitchenware products collected for analysing product characteristics and customer response. It has 6 variables: product title, brand, customer rating, number of reviews, price and product category.</a:t>
            </a:r>
          </a:p>
          <a:p>
            <a:pPr algn="just">
              <a:lnSpc>
                <a:spcPts val="294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TextBox 7" id="7"/>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4.Machine Learning Model and Its Relevance to the Topic</a:t>
            </a:r>
          </a:p>
        </p:txBody>
      </p:sp>
      <p:sp>
        <p:nvSpPr>
          <p:cNvPr name="TextBox 8" id="8"/>
          <p:cNvSpPr txBox="true"/>
          <p:nvPr/>
        </p:nvSpPr>
        <p:spPr>
          <a:xfrm rot="0">
            <a:off x="708479" y="2961933"/>
            <a:ext cx="16550821" cy="6296367"/>
          </a:xfrm>
          <a:prstGeom prst="rect">
            <a:avLst/>
          </a:prstGeom>
        </p:spPr>
        <p:txBody>
          <a:bodyPr anchor="t" rtlCol="false" tIns="0" lIns="0" bIns="0" rIns="0">
            <a:spAutoFit/>
          </a:bodyPr>
          <a:lstStyle/>
          <a:p>
            <a:pPr algn="just">
              <a:lnSpc>
                <a:spcPts val="5013"/>
              </a:lnSpc>
            </a:pPr>
            <a:r>
              <a:rPr lang="en-US" sz="3581">
                <a:solidFill>
                  <a:srgbClr val="000000"/>
                </a:solidFill>
                <a:latin typeface="Atkinson Hyperlegible"/>
                <a:ea typeface="Atkinson Hyperlegible"/>
                <a:cs typeface="Atkinson Hyperlegible"/>
                <a:sym typeface="Atkinson Hyperlegible"/>
              </a:rPr>
              <a:t>K-Nearest Neighbors (KNN) KNN is an instance-based, non-parametric algorithm. It classifies a new product by finding the k most similar products in feature space (Euclidean distance across price , stars , reviewsCount ) and assigning the majority class among those neighbors. </a:t>
            </a:r>
          </a:p>
          <a:p>
            <a:pPr algn="just">
              <a:lnSpc>
                <a:spcPts val="5013"/>
              </a:lnSpc>
            </a:pPr>
          </a:p>
          <a:p>
            <a:pPr algn="just">
              <a:lnSpc>
                <a:spcPts val="5013"/>
              </a:lnSpc>
              <a:spcBef>
                <a:spcPct val="0"/>
              </a:spcBef>
            </a:pPr>
            <a:r>
              <a:rPr lang="en-US" sz="3581">
                <a:solidFill>
                  <a:srgbClr val="000000"/>
                </a:solidFill>
                <a:latin typeface="Atkinson Hyperlegible"/>
                <a:ea typeface="Atkinson Hyperlegible"/>
                <a:cs typeface="Atkinson Hyperlegible"/>
                <a:sym typeface="Atkinson Hyperlegible"/>
              </a:rPr>
              <a:t>Relevance to this topic: Kitchenware categories plausibly cluster in price/popularity space — appliances tend to sit at higher price points than cleaning supplies, and cookware often shows different review-volume patterns than single-use gadgets. KNN can capture these natural groupings without assuming any particular statistical distribution.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5629890">
            <a:off x="14861289" y="-787747"/>
            <a:ext cx="5027969" cy="4159501"/>
          </a:xfrm>
          <a:custGeom>
            <a:avLst/>
            <a:gdLst/>
            <a:ahLst/>
            <a:cxnLst/>
            <a:rect r="r" b="b" t="t" l="l"/>
            <a:pathLst>
              <a:path h="4159501" w="5027969">
                <a:moveTo>
                  <a:pt x="0" y="0"/>
                </a:moveTo>
                <a:lnTo>
                  <a:pt x="5027969" y="0"/>
                </a:lnTo>
                <a:lnTo>
                  <a:pt x="5027969" y="4159501"/>
                </a:lnTo>
                <a:lnTo>
                  <a:pt x="0" y="4159501"/>
                </a:lnTo>
                <a:lnTo>
                  <a:pt x="0" y="0"/>
                </a:lnTo>
                <a:close/>
              </a:path>
            </a:pathLst>
          </a:custGeom>
          <a:blipFill>
            <a:blip r:embed="rId2"/>
            <a:stretch>
              <a:fillRect l="0" t="0" r="0" b="0"/>
            </a:stretch>
          </a:blipFill>
        </p:spPr>
      </p:sp>
      <p:sp>
        <p:nvSpPr>
          <p:cNvPr name="Freeform 3" id="3"/>
          <p:cNvSpPr/>
          <p:nvPr/>
        </p:nvSpPr>
        <p:spPr>
          <a:xfrm flipH="false" flipV="false" rot="-10080930">
            <a:off x="11588402" y="8383649"/>
            <a:ext cx="7087557" cy="5863343"/>
          </a:xfrm>
          <a:custGeom>
            <a:avLst/>
            <a:gdLst/>
            <a:ahLst/>
            <a:cxnLst/>
            <a:rect r="r" b="b" t="t" l="l"/>
            <a:pathLst>
              <a:path h="5863343" w="7087557">
                <a:moveTo>
                  <a:pt x="0" y="0"/>
                </a:moveTo>
                <a:lnTo>
                  <a:pt x="7087557" y="0"/>
                </a:lnTo>
                <a:lnTo>
                  <a:pt x="7087557" y="5863343"/>
                </a:lnTo>
                <a:lnTo>
                  <a:pt x="0" y="5863343"/>
                </a:lnTo>
                <a:lnTo>
                  <a:pt x="0" y="0"/>
                </a:lnTo>
                <a:close/>
              </a:path>
            </a:pathLst>
          </a:custGeom>
          <a:blipFill>
            <a:blip r:embed="rId2"/>
            <a:stretch>
              <a:fillRect l="0" t="0" r="0" b="0"/>
            </a:stretch>
          </a:blipFill>
        </p:spPr>
      </p:sp>
      <p:sp>
        <p:nvSpPr>
          <p:cNvPr name="Freeform 4" id="4"/>
          <p:cNvSpPr/>
          <p:nvPr/>
        </p:nvSpPr>
        <p:spPr>
          <a:xfrm flipH="false" flipV="false" rot="-5629890">
            <a:off x="-2882216" y="6662890"/>
            <a:ext cx="7486171" cy="6193105"/>
          </a:xfrm>
          <a:custGeom>
            <a:avLst/>
            <a:gdLst/>
            <a:ahLst/>
            <a:cxnLst/>
            <a:rect r="r" b="b" t="t" l="l"/>
            <a:pathLst>
              <a:path h="6193105" w="7486171">
                <a:moveTo>
                  <a:pt x="0" y="0"/>
                </a:moveTo>
                <a:lnTo>
                  <a:pt x="7486171" y="0"/>
                </a:lnTo>
                <a:lnTo>
                  <a:pt x="7486171" y="6193105"/>
                </a:lnTo>
                <a:lnTo>
                  <a:pt x="0" y="6193105"/>
                </a:lnTo>
                <a:lnTo>
                  <a:pt x="0" y="0"/>
                </a:lnTo>
                <a:close/>
              </a:path>
            </a:pathLst>
          </a:custGeom>
          <a:blipFill>
            <a:blip r:embed="rId2"/>
            <a:stretch>
              <a:fillRect l="0" t="0" r="0" b="0"/>
            </a:stretch>
          </a:blipFill>
        </p:spPr>
      </p:sp>
      <p:sp>
        <p:nvSpPr>
          <p:cNvPr name="Freeform 5" id="5"/>
          <p:cNvSpPr/>
          <p:nvPr/>
        </p:nvSpPr>
        <p:spPr>
          <a:xfrm flipH="false" flipV="false" rot="0">
            <a:off x="3161944" y="1621815"/>
            <a:ext cx="12446875" cy="8391977"/>
          </a:xfrm>
          <a:custGeom>
            <a:avLst/>
            <a:gdLst/>
            <a:ahLst/>
            <a:cxnLst/>
            <a:rect r="r" b="b" t="t" l="l"/>
            <a:pathLst>
              <a:path h="8391977" w="12446875">
                <a:moveTo>
                  <a:pt x="0" y="0"/>
                </a:moveTo>
                <a:lnTo>
                  <a:pt x="12446875" y="0"/>
                </a:lnTo>
                <a:lnTo>
                  <a:pt x="12446875" y="8391977"/>
                </a:lnTo>
                <a:lnTo>
                  <a:pt x="0" y="8391977"/>
                </a:lnTo>
                <a:lnTo>
                  <a:pt x="0" y="0"/>
                </a:lnTo>
                <a:close/>
              </a:path>
            </a:pathLst>
          </a:custGeom>
          <a:blipFill>
            <a:blip r:embed="rId3"/>
            <a:stretch>
              <a:fillRect l="-7773" t="0" r="-9557" b="-3150"/>
            </a:stretch>
          </a:blipFill>
          <a:ln w="38100" cap="sq">
            <a:solidFill>
              <a:srgbClr val="000000"/>
            </a:solidFill>
            <a:prstDash val="solid"/>
            <a:miter/>
          </a:ln>
        </p:spPr>
      </p:sp>
      <p:sp>
        <p:nvSpPr>
          <p:cNvPr name="TextBox 6" id="6"/>
          <p:cNvSpPr txBox="true"/>
          <p:nvPr/>
        </p:nvSpPr>
        <p:spPr>
          <a:xfrm rot="0">
            <a:off x="2830318" y="626110"/>
            <a:ext cx="11976361" cy="728980"/>
          </a:xfrm>
          <a:prstGeom prst="rect">
            <a:avLst/>
          </a:prstGeom>
        </p:spPr>
        <p:txBody>
          <a:bodyPr anchor="t" rtlCol="false" tIns="0" lIns="0" bIns="0" rIns="0">
            <a:spAutoFit/>
          </a:bodyPr>
          <a:lstStyle/>
          <a:p>
            <a:pPr algn="ctr">
              <a:lnSpc>
                <a:spcPts val="6020"/>
              </a:lnSpc>
              <a:spcBef>
                <a:spcPct val="0"/>
              </a:spcBef>
            </a:pPr>
            <a:r>
              <a:rPr lang="en-US" b="true" sz="4300">
                <a:solidFill>
                  <a:srgbClr val="000000"/>
                </a:solidFill>
                <a:latin typeface="Garet Bold"/>
                <a:ea typeface="Garet Bold"/>
                <a:cs typeface="Garet Bold"/>
                <a:sym typeface="Garet Bold"/>
              </a:rPr>
              <a:t>5.Orange Workflow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5629890">
            <a:off x="14861289" y="-787747"/>
            <a:ext cx="5027969" cy="4159501"/>
          </a:xfrm>
          <a:custGeom>
            <a:avLst/>
            <a:gdLst/>
            <a:ahLst/>
            <a:cxnLst/>
            <a:rect r="r" b="b" t="t" l="l"/>
            <a:pathLst>
              <a:path h="4159501" w="5027969">
                <a:moveTo>
                  <a:pt x="0" y="0"/>
                </a:moveTo>
                <a:lnTo>
                  <a:pt x="5027969" y="0"/>
                </a:lnTo>
                <a:lnTo>
                  <a:pt x="5027969" y="4159501"/>
                </a:lnTo>
                <a:lnTo>
                  <a:pt x="0" y="4159501"/>
                </a:lnTo>
                <a:lnTo>
                  <a:pt x="0" y="0"/>
                </a:lnTo>
                <a:close/>
              </a:path>
            </a:pathLst>
          </a:custGeom>
          <a:blipFill>
            <a:blip r:embed="rId2"/>
            <a:stretch>
              <a:fillRect l="0" t="0" r="0" b="0"/>
            </a:stretch>
          </a:blipFill>
        </p:spPr>
      </p:sp>
      <p:sp>
        <p:nvSpPr>
          <p:cNvPr name="Freeform 3" id="3"/>
          <p:cNvSpPr/>
          <p:nvPr/>
        </p:nvSpPr>
        <p:spPr>
          <a:xfrm flipH="false" flipV="false" rot="-10080930">
            <a:off x="11588402" y="8383649"/>
            <a:ext cx="7087557" cy="5863343"/>
          </a:xfrm>
          <a:custGeom>
            <a:avLst/>
            <a:gdLst/>
            <a:ahLst/>
            <a:cxnLst/>
            <a:rect r="r" b="b" t="t" l="l"/>
            <a:pathLst>
              <a:path h="5863343" w="7087557">
                <a:moveTo>
                  <a:pt x="0" y="0"/>
                </a:moveTo>
                <a:lnTo>
                  <a:pt x="7087557" y="0"/>
                </a:lnTo>
                <a:lnTo>
                  <a:pt x="7087557" y="5863343"/>
                </a:lnTo>
                <a:lnTo>
                  <a:pt x="0" y="5863343"/>
                </a:lnTo>
                <a:lnTo>
                  <a:pt x="0" y="0"/>
                </a:lnTo>
                <a:close/>
              </a:path>
            </a:pathLst>
          </a:custGeom>
          <a:blipFill>
            <a:blip r:embed="rId2"/>
            <a:stretch>
              <a:fillRect l="0" t="0" r="0" b="0"/>
            </a:stretch>
          </a:blipFill>
        </p:spPr>
      </p:sp>
      <p:sp>
        <p:nvSpPr>
          <p:cNvPr name="Freeform 4" id="4"/>
          <p:cNvSpPr/>
          <p:nvPr/>
        </p:nvSpPr>
        <p:spPr>
          <a:xfrm flipH="false" flipV="false" rot="-5629890">
            <a:off x="-2882216" y="6662890"/>
            <a:ext cx="7486171" cy="6193105"/>
          </a:xfrm>
          <a:custGeom>
            <a:avLst/>
            <a:gdLst/>
            <a:ahLst/>
            <a:cxnLst/>
            <a:rect r="r" b="b" t="t" l="l"/>
            <a:pathLst>
              <a:path h="6193105" w="7486171">
                <a:moveTo>
                  <a:pt x="0" y="0"/>
                </a:moveTo>
                <a:lnTo>
                  <a:pt x="7486171" y="0"/>
                </a:lnTo>
                <a:lnTo>
                  <a:pt x="7486171" y="6193105"/>
                </a:lnTo>
                <a:lnTo>
                  <a:pt x="0" y="6193105"/>
                </a:lnTo>
                <a:lnTo>
                  <a:pt x="0" y="0"/>
                </a:lnTo>
                <a:close/>
              </a:path>
            </a:pathLst>
          </a:custGeom>
          <a:blipFill>
            <a:blip r:embed="rId2"/>
            <a:stretch>
              <a:fillRect l="0" t="0" r="0" b="0"/>
            </a:stretch>
          </a:blipFill>
        </p:spPr>
      </p:sp>
      <p:sp>
        <p:nvSpPr>
          <p:cNvPr name="Freeform 5" id="5"/>
          <p:cNvSpPr/>
          <p:nvPr/>
        </p:nvSpPr>
        <p:spPr>
          <a:xfrm flipH="false" flipV="false" rot="0">
            <a:off x="1361245" y="2488417"/>
            <a:ext cx="16201346" cy="6207879"/>
          </a:xfrm>
          <a:custGeom>
            <a:avLst/>
            <a:gdLst/>
            <a:ahLst/>
            <a:cxnLst/>
            <a:rect r="r" b="b" t="t" l="l"/>
            <a:pathLst>
              <a:path h="6207879" w="16201346">
                <a:moveTo>
                  <a:pt x="0" y="0"/>
                </a:moveTo>
                <a:lnTo>
                  <a:pt x="16201345" y="0"/>
                </a:lnTo>
                <a:lnTo>
                  <a:pt x="16201345" y="6207879"/>
                </a:lnTo>
                <a:lnTo>
                  <a:pt x="0" y="6207879"/>
                </a:lnTo>
                <a:lnTo>
                  <a:pt x="0" y="0"/>
                </a:lnTo>
                <a:close/>
              </a:path>
            </a:pathLst>
          </a:custGeom>
          <a:blipFill>
            <a:blip r:embed="rId3"/>
            <a:stretch>
              <a:fillRect l="0" t="0" r="0" b="0"/>
            </a:stretch>
          </a:blipFill>
          <a:ln w="38100" cap="sq">
            <a:solidFill>
              <a:srgbClr val="000000"/>
            </a:solidFill>
            <a:prstDash val="solid"/>
            <a:miter/>
          </a:ln>
        </p:spPr>
      </p:sp>
      <p:sp>
        <p:nvSpPr>
          <p:cNvPr name="TextBox 6" id="6"/>
          <p:cNvSpPr txBox="true"/>
          <p:nvPr/>
        </p:nvSpPr>
        <p:spPr>
          <a:xfrm rot="0">
            <a:off x="2830318" y="626110"/>
            <a:ext cx="11976361" cy="728980"/>
          </a:xfrm>
          <a:prstGeom prst="rect">
            <a:avLst/>
          </a:prstGeom>
        </p:spPr>
        <p:txBody>
          <a:bodyPr anchor="t" rtlCol="false" tIns="0" lIns="0" bIns="0" rIns="0">
            <a:spAutoFit/>
          </a:bodyPr>
          <a:lstStyle/>
          <a:p>
            <a:pPr algn="ctr">
              <a:lnSpc>
                <a:spcPts val="6020"/>
              </a:lnSpc>
              <a:spcBef>
                <a:spcPct val="0"/>
              </a:spcBef>
            </a:pPr>
            <a:r>
              <a:rPr lang="en-US" b="true" sz="4300">
                <a:solidFill>
                  <a:srgbClr val="000000"/>
                </a:solidFill>
                <a:latin typeface="Garet Bold"/>
                <a:ea typeface="Garet Bold"/>
                <a:cs typeface="Garet Bold"/>
                <a:sym typeface="Garet Bold"/>
              </a:rPr>
              <a:t>5.Orange Workflow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7" id="7"/>
          <p:cNvSpPr/>
          <p:nvPr/>
        </p:nvSpPr>
        <p:spPr>
          <a:xfrm flipH="false" flipV="false" rot="0">
            <a:off x="961988" y="2135315"/>
            <a:ext cx="9411556" cy="7650127"/>
          </a:xfrm>
          <a:custGeom>
            <a:avLst/>
            <a:gdLst/>
            <a:ahLst/>
            <a:cxnLst/>
            <a:rect r="r" b="b" t="t" l="l"/>
            <a:pathLst>
              <a:path h="7650127" w="9411556">
                <a:moveTo>
                  <a:pt x="0" y="0"/>
                </a:moveTo>
                <a:lnTo>
                  <a:pt x="9411556" y="0"/>
                </a:lnTo>
                <a:lnTo>
                  <a:pt x="9411556" y="7650127"/>
                </a:lnTo>
                <a:lnTo>
                  <a:pt x="0" y="7650127"/>
                </a:lnTo>
                <a:lnTo>
                  <a:pt x="0" y="0"/>
                </a:lnTo>
                <a:close/>
              </a:path>
            </a:pathLst>
          </a:custGeom>
          <a:blipFill>
            <a:blip r:embed="rId3"/>
            <a:stretch>
              <a:fillRect l="0" t="0" r="0" b="0"/>
            </a:stretch>
          </a:blipFill>
          <a:ln w="38100" cap="sq">
            <a:solidFill>
              <a:srgbClr val="000000"/>
            </a:solidFill>
            <a:prstDash val="solid"/>
            <a:miter/>
          </a:ln>
        </p:spPr>
      </p:sp>
      <p:sp>
        <p:nvSpPr>
          <p:cNvPr name="TextBox 8" id="8"/>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6.a.Data Visualisation</a:t>
            </a:r>
          </a:p>
        </p:txBody>
      </p:sp>
      <p:sp>
        <p:nvSpPr>
          <p:cNvPr name="TextBox 9" id="9"/>
          <p:cNvSpPr txBox="true"/>
          <p:nvPr/>
        </p:nvSpPr>
        <p:spPr>
          <a:xfrm rot="0">
            <a:off x="11263340" y="4644484"/>
            <a:ext cx="6442408" cy="3223962"/>
          </a:xfrm>
          <a:prstGeom prst="rect">
            <a:avLst/>
          </a:prstGeom>
        </p:spPr>
        <p:txBody>
          <a:bodyPr anchor="t" rtlCol="false" tIns="0" lIns="0" bIns="0" rIns="0">
            <a:spAutoFit/>
          </a:bodyPr>
          <a:lstStyle/>
          <a:p>
            <a:pPr algn="just">
              <a:lnSpc>
                <a:spcPts val="3207"/>
              </a:lnSpc>
            </a:pPr>
            <a:r>
              <a:rPr lang="en-US" sz="2290">
                <a:solidFill>
                  <a:srgbClr val="000000"/>
                </a:solidFill>
                <a:latin typeface="Atkinson Hyperlegible"/>
                <a:ea typeface="Atkinson Hyperlegible"/>
                <a:cs typeface="Atkinson Hyperlegible"/>
                <a:sym typeface="Atkinson Hyperlegible"/>
              </a:rPr>
              <a:t>Most products have high ratings between approximately 4.3 and 4.8 stars, with substantial overlap across categories. Rating alone therefore provides limited separation between kitchenware categories, while price shows comparatively greater variation.. </a:t>
            </a:r>
          </a:p>
          <a:p>
            <a:pPr algn="just">
              <a:lnSpc>
                <a:spcPts val="3207"/>
              </a:lnSpc>
            </a:pPr>
          </a:p>
          <a:p>
            <a:pPr algn="just">
              <a:lnSpc>
                <a:spcPts val="3207"/>
              </a:lnSpc>
              <a:spcBef>
                <a:spcPct val="0"/>
              </a:spcBef>
            </a:pPr>
          </a:p>
        </p:txBody>
      </p:sp>
      <p:sp>
        <p:nvSpPr>
          <p:cNvPr name="TextBox 10" id="10"/>
          <p:cNvSpPr txBox="true"/>
          <p:nvPr/>
        </p:nvSpPr>
        <p:spPr>
          <a:xfrm rot="0">
            <a:off x="11845592" y="4103691"/>
            <a:ext cx="6442408" cy="389488"/>
          </a:xfrm>
          <a:prstGeom prst="rect">
            <a:avLst/>
          </a:prstGeom>
        </p:spPr>
        <p:txBody>
          <a:bodyPr anchor="t" rtlCol="false" tIns="0" lIns="0" bIns="0" rIns="0">
            <a:spAutoFit/>
          </a:bodyPr>
          <a:lstStyle/>
          <a:p>
            <a:pPr algn="just">
              <a:lnSpc>
                <a:spcPts val="3207"/>
              </a:lnSpc>
            </a:pPr>
            <a:r>
              <a:rPr lang="en-US" sz="2290" b="true">
                <a:solidFill>
                  <a:srgbClr val="000000"/>
                </a:solidFill>
                <a:latin typeface="Atkinson Hyperlegible Bold"/>
                <a:ea typeface="Atkinson Hyperlegible Bold"/>
                <a:cs typeface="Atkinson Hyperlegible Bold"/>
                <a:sym typeface="Atkinson Hyperlegible Bold"/>
              </a:rPr>
              <a:t>Scatter Plot — Price vs Star Rating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371600"/>
            <a:chOff x="0" y="0"/>
            <a:chExt cx="4816593" cy="361244"/>
          </a:xfrm>
        </p:grpSpPr>
        <p:sp>
          <p:nvSpPr>
            <p:cNvPr name="Freeform 3" id="3"/>
            <p:cNvSpPr/>
            <p:nvPr/>
          </p:nvSpPr>
          <p:spPr>
            <a:xfrm flipH="false" flipV="false" rot="0">
              <a:off x="0" y="0"/>
              <a:ext cx="4816592" cy="361244"/>
            </a:xfrm>
            <a:custGeom>
              <a:avLst/>
              <a:gdLst/>
              <a:ahLst/>
              <a:cxnLst/>
              <a:rect r="r" b="b" t="t" l="l"/>
              <a:pathLst>
                <a:path h="361244" w="4816592">
                  <a:moveTo>
                    <a:pt x="0" y="0"/>
                  </a:moveTo>
                  <a:lnTo>
                    <a:pt x="4816592" y="0"/>
                  </a:lnTo>
                  <a:lnTo>
                    <a:pt x="4816592" y="361244"/>
                  </a:lnTo>
                  <a:lnTo>
                    <a:pt x="0" y="361244"/>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39934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7" id="7"/>
          <p:cNvSpPr/>
          <p:nvPr/>
        </p:nvSpPr>
        <p:spPr>
          <a:xfrm flipH="false" flipV="false" rot="0">
            <a:off x="235611" y="2800337"/>
            <a:ext cx="11130342" cy="6098030"/>
          </a:xfrm>
          <a:custGeom>
            <a:avLst/>
            <a:gdLst/>
            <a:ahLst/>
            <a:cxnLst/>
            <a:rect r="r" b="b" t="t" l="l"/>
            <a:pathLst>
              <a:path h="6098030" w="11130342">
                <a:moveTo>
                  <a:pt x="0" y="0"/>
                </a:moveTo>
                <a:lnTo>
                  <a:pt x="11130343" y="0"/>
                </a:lnTo>
                <a:lnTo>
                  <a:pt x="11130343" y="6098030"/>
                </a:lnTo>
                <a:lnTo>
                  <a:pt x="0" y="6098030"/>
                </a:lnTo>
                <a:lnTo>
                  <a:pt x="0" y="0"/>
                </a:lnTo>
                <a:close/>
              </a:path>
            </a:pathLst>
          </a:custGeom>
          <a:blipFill>
            <a:blip r:embed="rId3"/>
            <a:stretch>
              <a:fillRect l="0" t="0" r="-10902" b="0"/>
            </a:stretch>
          </a:blipFill>
          <a:ln w="38100" cap="sq">
            <a:solidFill>
              <a:srgbClr val="000000"/>
            </a:solidFill>
            <a:prstDash val="solid"/>
            <a:miter/>
          </a:ln>
        </p:spPr>
      </p:sp>
      <p:sp>
        <p:nvSpPr>
          <p:cNvPr name="TextBox 8" id="8"/>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6.a.Data Visualisation</a:t>
            </a:r>
          </a:p>
        </p:txBody>
      </p:sp>
      <p:sp>
        <p:nvSpPr>
          <p:cNvPr name="TextBox 9" id="9"/>
          <p:cNvSpPr txBox="true"/>
          <p:nvPr/>
        </p:nvSpPr>
        <p:spPr>
          <a:xfrm rot="0">
            <a:off x="11423792" y="4820032"/>
            <a:ext cx="6442408" cy="2011016"/>
          </a:xfrm>
          <a:prstGeom prst="rect">
            <a:avLst/>
          </a:prstGeom>
        </p:spPr>
        <p:txBody>
          <a:bodyPr anchor="t" rtlCol="false" tIns="0" lIns="0" bIns="0" rIns="0">
            <a:spAutoFit/>
          </a:bodyPr>
          <a:lstStyle/>
          <a:p>
            <a:pPr algn="just">
              <a:lnSpc>
                <a:spcPts val="3207"/>
              </a:lnSpc>
              <a:spcBef>
                <a:spcPct val="0"/>
              </a:spcBef>
            </a:pPr>
            <a:r>
              <a:rPr lang="en-US" sz="2290">
                <a:solidFill>
                  <a:srgbClr val="000000"/>
                </a:solidFill>
                <a:latin typeface="Atkinson Hyperlegible"/>
                <a:ea typeface="Atkinson Hyperlegible"/>
                <a:cs typeface="Atkinson Hyperlegible"/>
                <a:sym typeface="Atkinson Hyperlegible"/>
              </a:rPr>
              <a:t>Price differs significantly across kitchenware categories (ANOVA, F = 11.127, p &lt; 0.001). Appliances and Cookware show greater price variation, while Cleaning Supplies and Utensils &amp; Gadgets are concentrated at lower price levels.</a:t>
            </a:r>
          </a:p>
        </p:txBody>
      </p:sp>
      <p:sp>
        <p:nvSpPr>
          <p:cNvPr name="TextBox 10" id="10"/>
          <p:cNvSpPr txBox="true"/>
          <p:nvPr/>
        </p:nvSpPr>
        <p:spPr>
          <a:xfrm rot="0">
            <a:off x="12249179" y="4103691"/>
            <a:ext cx="6442408" cy="389488"/>
          </a:xfrm>
          <a:prstGeom prst="rect">
            <a:avLst/>
          </a:prstGeom>
        </p:spPr>
        <p:txBody>
          <a:bodyPr anchor="t" rtlCol="false" tIns="0" lIns="0" bIns="0" rIns="0">
            <a:spAutoFit/>
          </a:bodyPr>
          <a:lstStyle/>
          <a:p>
            <a:pPr algn="just">
              <a:lnSpc>
                <a:spcPts val="3207"/>
              </a:lnSpc>
            </a:pPr>
            <a:r>
              <a:rPr lang="en-US" sz="2290" b="true">
                <a:solidFill>
                  <a:srgbClr val="000000"/>
                </a:solidFill>
                <a:latin typeface="Atkinson Hyperlegible Bold"/>
                <a:ea typeface="Atkinson Hyperlegible Bold"/>
                <a:cs typeface="Atkinson Hyperlegible Bold"/>
                <a:sym typeface="Atkinson Hyperlegible Bold"/>
              </a:rPr>
              <a:t>Box Plot — Price by Category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7" id="7"/>
          <p:cNvSpPr/>
          <p:nvPr/>
        </p:nvSpPr>
        <p:spPr>
          <a:xfrm flipH="false" flipV="false" rot="0">
            <a:off x="577427" y="2079100"/>
            <a:ext cx="9961844" cy="7951526"/>
          </a:xfrm>
          <a:custGeom>
            <a:avLst/>
            <a:gdLst/>
            <a:ahLst/>
            <a:cxnLst/>
            <a:rect r="r" b="b" t="t" l="l"/>
            <a:pathLst>
              <a:path h="7951526" w="9961844">
                <a:moveTo>
                  <a:pt x="0" y="0"/>
                </a:moveTo>
                <a:lnTo>
                  <a:pt x="9961844" y="0"/>
                </a:lnTo>
                <a:lnTo>
                  <a:pt x="9961844" y="7951526"/>
                </a:lnTo>
                <a:lnTo>
                  <a:pt x="0" y="7951526"/>
                </a:lnTo>
                <a:lnTo>
                  <a:pt x="0" y="0"/>
                </a:lnTo>
                <a:close/>
              </a:path>
            </a:pathLst>
          </a:custGeom>
          <a:blipFill>
            <a:blip r:embed="rId3"/>
            <a:stretch>
              <a:fillRect l="0" t="0" r="0" b="0"/>
            </a:stretch>
          </a:blipFill>
          <a:ln w="38100" cap="sq">
            <a:solidFill>
              <a:srgbClr val="000000"/>
            </a:solidFill>
            <a:prstDash val="solid"/>
            <a:miter/>
          </a:ln>
        </p:spPr>
      </p:sp>
      <p:sp>
        <p:nvSpPr>
          <p:cNvPr name="TextBox 8" id="8"/>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6.a.Data Visualisation</a:t>
            </a:r>
          </a:p>
        </p:txBody>
      </p:sp>
      <p:sp>
        <p:nvSpPr>
          <p:cNvPr name="TextBox 9" id="9"/>
          <p:cNvSpPr txBox="true"/>
          <p:nvPr/>
        </p:nvSpPr>
        <p:spPr>
          <a:xfrm rot="0">
            <a:off x="11306069" y="4135587"/>
            <a:ext cx="6442408" cy="5649855"/>
          </a:xfrm>
          <a:prstGeom prst="rect">
            <a:avLst/>
          </a:prstGeom>
        </p:spPr>
        <p:txBody>
          <a:bodyPr anchor="t" rtlCol="false" tIns="0" lIns="0" bIns="0" rIns="0">
            <a:spAutoFit/>
          </a:bodyPr>
          <a:lstStyle/>
          <a:p>
            <a:pPr algn="just">
              <a:lnSpc>
                <a:spcPts val="3207"/>
              </a:lnSpc>
            </a:pPr>
            <a:r>
              <a:rPr lang="en-US" sz="2290">
                <a:solidFill>
                  <a:srgbClr val="000000"/>
                </a:solidFill>
                <a:latin typeface="Atkinson Hyperlegible"/>
                <a:ea typeface="Atkinson Hyperlegible"/>
                <a:cs typeface="Atkinson Hyperlegible"/>
                <a:sym typeface="Atkinson Hyperlegible"/>
              </a:rPr>
              <a:t>The review-count distribution is strongly right-skewed. Most products have relatively low to moderate numbers of reviews, while a small number of products have extremely high review counts.</a:t>
            </a:r>
          </a:p>
          <a:p>
            <a:pPr algn="just">
              <a:lnSpc>
                <a:spcPts val="3207"/>
              </a:lnSpc>
            </a:pPr>
          </a:p>
          <a:p>
            <a:pPr algn="just">
              <a:lnSpc>
                <a:spcPts val="3207"/>
              </a:lnSpc>
            </a:pPr>
            <a:r>
              <a:rPr lang="en-US" sz="2290">
                <a:solidFill>
                  <a:srgbClr val="000000"/>
                </a:solidFill>
                <a:latin typeface="Atkinson Hyperlegible"/>
                <a:ea typeface="Atkinson Hyperlegible"/>
                <a:cs typeface="Atkinson Hyperlegible"/>
                <a:sym typeface="Atkinson Hyperlegible"/>
              </a:rPr>
              <a:t>The majority of observations are concentrated below approximately 50,000 reviews, but there are a few products reaching well above 100,000 and even 200,000 reviews.</a:t>
            </a:r>
          </a:p>
          <a:p>
            <a:pPr algn="just">
              <a:lnSpc>
                <a:spcPts val="3207"/>
              </a:lnSpc>
            </a:pPr>
          </a:p>
          <a:p>
            <a:pPr algn="just">
              <a:lnSpc>
                <a:spcPts val="3207"/>
              </a:lnSpc>
            </a:pPr>
            <a:r>
              <a:rPr lang="en-US" sz="2290">
                <a:solidFill>
                  <a:srgbClr val="000000"/>
                </a:solidFill>
                <a:latin typeface="Atkinson Hyperlegible"/>
                <a:ea typeface="Atkinson Hyperlegible"/>
                <a:cs typeface="Atkinson Hyperlegible"/>
                <a:sym typeface="Atkinson Hyperlegible"/>
              </a:rPr>
              <a:t>This means that popularity is not evenly distributed across the products.</a:t>
            </a:r>
          </a:p>
          <a:p>
            <a:pPr algn="just">
              <a:lnSpc>
                <a:spcPts val="3207"/>
              </a:lnSpc>
              <a:spcBef>
                <a:spcPct val="0"/>
              </a:spcBef>
            </a:pPr>
          </a:p>
        </p:txBody>
      </p:sp>
      <p:sp>
        <p:nvSpPr>
          <p:cNvPr name="TextBox 10" id="10"/>
          <p:cNvSpPr txBox="true"/>
          <p:nvPr/>
        </p:nvSpPr>
        <p:spPr>
          <a:xfrm rot="0">
            <a:off x="11567855" y="3420027"/>
            <a:ext cx="6442408" cy="389488"/>
          </a:xfrm>
          <a:prstGeom prst="rect">
            <a:avLst/>
          </a:prstGeom>
        </p:spPr>
        <p:txBody>
          <a:bodyPr anchor="t" rtlCol="false" tIns="0" lIns="0" bIns="0" rIns="0">
            <a:spAutoFit/>
          </a:bodyPr>
          <a:lstStyle/>
          <a:p>
            <a:pPr algn="just">
              <a:lnSpc>
                <a:spcPts val="3207"/>
              </a:lnSpc>
            </a:pPr>
            <a:r>
              <a:rPr lang="en-US" sz="2290" b="true">
                <a:solidFill>
                  <a:srgbClr val="000000"/>
                </a:solidFill>
                <a:latin typeface="Atkinson Hyperlegible Bold"/>
                <a:ea typeface="Atkinson Hyperlegible Bold"/>
                <a:cs typeface="Atkinson Hyperlegible Bold"/>
                <a:sym typeface="Atkinson Hyperlegible Bold"/>
              </a:rPr>
              <a:t>Distribution of Review Count by Category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7" id="7"/>
          <p:cNvSpPr/>
          <p:nvPr/>
        </p:nvSpPr>
        <p:spPr>
          <a:xfrm flipH="false" flipV="false" rot="0">
            <a:off x="729598" y="2109664"/>
            <a:ext cx="10003851" cy="7985056"/>
          </a:xfrm>
          <a:custGeom>
            <a:avLst/>
            <a:gdLst/>
            <a:ahLst/>
            <a:cxnLst/>
            <a:rect r="r" b="b" t="t" l="l"/>
            <a:pathLst>
              <a:path h="7985056" w="10003851">
                <a:moveTo>
                  <a:pt x="0" y="0"/>
                </a:moveTo>
                <a:lnTo>
                  <a:pt x="10003851" y="0"/>
                </a:lnTo>
                <a:lnTo>
                  <a:pt x="10003851" y="7985056"/>
                </a:lnTo>
                <a:lnTo>
                  <a:pt x="0" y="7985056"/>
                </a:lnTo>
                <a:lnTo>
                  <a:pt x="0" y="0"/>
                </a:lnTo>
                <a:close/>
              </a:path>
            </a:pathLst>
          </a:custGeom>
          <a:blipFill>
            <a:blip r:embed="rId3"/>
            <a:stretch>
              <a:fillRect l="0" t="0" r="0" b="0"/>
            </a:stretch>
          </a:blipFill>
          <a:ln w="38100" cap="sq">
            <a:solidFill>
              <a:srgbClr val="000000"/>
            </a:solidFill>
            <a:prstDash val="solid"/>
            <a:miter/>
          </a:ln>
        </p:spPr>
      </p:sp>
      <p:sp>
        <p:nvSpPr>
          <p:cNvPr name="TextBox 8" id="8"/>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6.a.Data Visualisation</a:t>
            </a:r>
          </a:p>
        </p:txBody>
      </p:sp>
      <p:sp>
        <p:nvSpPr>
          <p:cNvPr name="TextBox 9" id="9"/>
          <p:cNvSpPr txBox="true"/>
          <p:nvPr/>
        </p:nvSpPr>
        <p:spPr>
          <a:xfrm rot="0">
            <a:off x="11306069" y="3593091"/>
            <a:ext cx="6442408" cy="6862801"/>
          </a:xfrm>
          <a:prstGeom prst="rect">
            <a:avLst/>
          </a:prstGeom>
        </p:spPr>
        <p:txBody>
          <a:bodyPr anchor="t" rtlCol="false" tIns="0" lIns="0" bIns="0" rIns="0">
            <a:spAutoFit/>
          </a:bodyPr>
          <a:lstStyle/>
          <a:p>
            <a:pPr algn="just">
              <a:lnSpc>
                <a:spcPts val="3207"/>
              </a:lnSpc>
            </a:pPr>
          </a:p>
          <a:p>
            <a:pPr algn="just">
              <a:lnSpc>
                <a:spcPts val="3207"/>
              </a:lnSpc>
            </a:pPr>
            <a:r>
              <a:rPr lang="en-US" sz="2290">
                <a:solidFill>
                  <a:srgbClr val="000000"/>
                </a:solidFill>
                <a:latin typeface="Atkinson Hyperlegible"/>
                <a:ea typeface="Atkinson Hyperlegible"/>
                <a:cs typeface="Atkinson Hyperlegible"/>
                <a:sym typeface="Atkinson Hyperlegible"/>
              </a:rPr>
              <a:t>The distribution indicates that most kitchenware products are concentrated in the lower price range, particularly below approximately $50. Utensils &amp; Gadgets and Cleaning Supplies have a large number of products in the lower price range, while Appliances and Cookware also show some products at substantially higher prices.</a:t>
            </a:r>
          </a:p>
          <a:p>
            <a:pPr algn="just">
              <a:lnSpc>
                <a:spcPts val="3207"/>
              </a:lnSpc>
            </a:pPr>
          </a:p>
          <a:p>
            <a:pPr algn="just">
              <a:lnSpc>
                <a:spcPts val="3207"/>
              </a:lnSpc>
            </a:pPr>
            <a:r>
              <a:rPr lang="en-US" sz="2290">
                <a:solidFill>
                  <a:srgbClr val="000000"/>
                </a:solidFill>
                <a:latin typeface="Atkinson Hyperlegible"/>
                <a:ea typeface="Atkinson Hyperlegible"/>
                <a:cs typeface="Atkinson Hyperlegible"/>
                <a:sym typeface="Atkinson Hyperlegible"/>
              </a:rPr>
              <a:t>There are a few high-price observations, particularly for Appliances and Cookware, extending well beyond the main concentration of products. This suggests that these categories have greater price variation compared with the lower-priced categories.</a:t>
            </a:r>
          </a:p>
          <a:p>
            <a:pPr algn="just">
              <a:lnSpc>
                <a:spcPts val="3207"/>
              </a:lnSpc>
            </a:pPr>
          </a:p>
          <a:p>
            <a:pPr algn="just">
              <a:lnSpc>
                <a:spcPts val="3207"/>
              </a:lnSpc>
              <a:spcBef>
                <a:spcPct val="0"/>
              </a:spcBef>
            </a:pPr>
          </a:p>
        </p:txBody>
      </p:sp>
      <p:sp>
        <p:nvSpPr>
          <p:cNvPr name="TextBox 10" id="10"/>
          <p:cNvSpPr txBox="true"/>
          <p:nvPr/>
        </p:nvSpPr>
        <p:spPr>
          <a:xfrm rot="0">
            <a:off x="12249179" y="3420027"/>
            <a:ext cx="6442408" cy="389488"/>
          </a:xfrm>
          <a:prstGeom prst="rect">
            <a:avLst/>
          </a:prstGeom>
        </p:spPr>
        <p:txBody>
          <a:bodyPr anchor="t" rtlCol="false" tIns="0" lIns="0" bIns="0" rIns="0">
            <a:spAutoFit/>
          </a:bodyPr>
          <a:lstStyle/>
          <a:p>
            <a:pPr algn="just">
              <a:lnSpc>
                <a:spcPts val="3207"/>
              </a:lnSpc>
            </a:pPr>
            <a:r>
              <a:rPr lang="en-US" sz="2290" b="true">
                <a:solidFill>
                  <a:srgbClr val="000000"/>
                </a:solidFill>
                <a:latin typeface="Atkinson Hyperlegible Bold"/>
                <a:ea typeface="Atkinson Hyperlegible Bold"/>
                <a:cs typeface="Atkinson Hyperlegible Bold"/>
                <a:sym typeface="Atkinson Hyperlegible Bold"/>
              </a:rPr>
              <a:t>Distribution of Price by Category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10137" y="0"/>
            <a:ext cx="18277863" cy="1804231"/>
            <a:chOff x="0" y="0"/>
            <a:chExt cx="4813923" cy="475188"/>
          </a:xfrm>
        </p:grpSpPr>
        <p:sp>
          <p:nvSpPr>
            <p:cNvPr name="Freeform 3" id="3"/>
            <p:cNvSpPr/>
            <p:nvPr/>
          </p:nvSpPr>
          <p:spPr>
            <a:xfrm flipH="false" flipV="false" rot="0">
              <a:off x="0" y="0"/>
              <a:ext cx="4813923" cy="475188"/>
            </a:xfrm>
            <a:custGeom>
              <a:avLst/>
              <a:gdLst/>
              <a:ahLst/>
              <a:cxnLst/>
              <a:rect r="r" b="b" t="t" l="l"/>
              <a:pathLst>
                <a:path h="475188" w="4813923">
                  <a:moveTo>
                    <a:pt x="0" y="0"/>
                  </a:moveTo>
                  <a:lnTo>
                    <a:pt x="4813923" y="0"/>
                  </a:lnTo>
                  <a:lnTo>
                    <a:pt x="4813923"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392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graphicFrame>
        <p:nvGraphicFramePr>
          <p:cNvPr name="Object 7" id="7"/>
          <p:cNvGraphicFramePr/>
          <p:nvPr/>
        </p:nvGraphicFramePr>
        <p:xfrm>
          <a:off x="521973" y="4390936"/>
          <a:ext cx="7543800" cy="4400550"/>
        </p:xfrm>
        <a:graphic>
          <a:graphicData uri="http://schemas.openxmlformats.org/presentationml/2006/ole">
            <p:oleObj imgW="9042400" imgH="5905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8" id="8"/>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6.b.Comparison with Naive Bayes</a:t>
            </a:r>
          </a:p>
        </p:txBody>
      </p:sp>
      <p:sp>
        <p:nvSpPr>
          <p:cNvPr name="TextBox 9" id="9"/>
          <p:cNvSpPr txBox="true"/>
          <p:nvPr/>
        </p:nvSpPr>
        <p:spPr>
          <a:xfrm rot="0">
            <a:off x="521973" y="2128632"/>
            <a:ext cx="17244055" cy="2003335"/>
          </a:xfrm>
          <a:prstGeom prst="rect">
            <a:avLst/>
          </a:prstGeom>
        </p:spPr>
        <p:txBody>
          <a:bodyPr anchor="t" rtlCol="false" tIns="0" lIns="0" bIns="0" rIns="0">
            <a:spAutoFit/>
          </a:bodyPr>
          <a:lstStyle/>
          <a:p>
            <a:pPr algn="just">
              <a:lnSpc>
                <a:spcPts val="4029"/>
              </a:lnSpc>
            </a:pPr>
            <a:r>
              <a:rPr lang="en-US" sz="2878">
                <a:solidFill>
                  <a:srgbClr val="000000"/>
                </a:solidFill>
                <a:latin typeface="Atkinson Hyperlegible"/>
                <a:ea typeface="Atkinson Hyperlegible"/>
                <a:cs typeface="Atkinson Hyperlegible"/>
                <a:sym typeface="Atkinson Hyperlegible"/>
              </a:rPr>
              <a:t>Two classification models, KNN and Naive Bayes, were evaluated using 10-fold stratified cross-validation to predict the five kitchenware product categories. KNN was tested with k = 7 after preprocessing and normalization. Both models achieved the same overall accuracy, so additional performance measures were considered to select the more suitable model.</a:t>
            </a:r>
          </a:p>
        </p:txBody>
      </p:sp>
      <p:sp>
        <p:nvSpPr>
          <p:cNvPr name="TextBox 10" id="10"/>
          <p:cNvSpPr txBox="true"/>
          <p:nvPr/>
        </p:nvSpPr>
        <p:spPr>
          <a:xfrm rot="0">
            <a:off x="9232305" y="5335633"/>
            <a:ext cx="7117289" cy="2003335"/>
          </a:xfrm>
          <a:prstGeom prst="rect">
            <a:avLst/>
          </a:prstGeom>
        </p:spPr>
        <p:txBody>
          <a:bodyPr anchor="t" rtlCol="false" tIns="0" lIns="0" bIns="0" rIns="0">
            <a:spAutoFit/>
          </a:bodyPr>
          <a:lstStyle/>
          <a:p>
            <a:pPr algn="just">
              <a:lnSpc>
                <a:spcPts val="4029"/>
              </a:lnSpc>
            </a:pPr>
            <a:r>
              <a:rPr lang="en-US" sz="2878">
                <a:solidFill>
                  <a:srgbClr val="000000"/>
                </a:solidFill>
                <a:latin typeface="Atkinson Hyperlegible"/>
                <a:ea typeface="Atkinson Hyperlegible"/>
                <a:cs typeface="Atkinson Hyperlegible"/>
                <a:sym typeface="Atkinson Hyperlegible"/>
              </a:rPr>
              <a:t>KNN was selected because it achieved the higher AUC (0.725) and slightly higher MCC (0.332), while maintaining the same accuracy and recall as Naive Bayes.</a:t>
            </a:r>
          </a:p>
        </p:txBody>
      </p:sp>
      <p:sp>
        <p:nvSpPr>
          <p:cNvPr name="TextBox 11" id="11"/>
          <p:cNvSpPr txBox="true"/>
          <p:nvPr/>
        </p:nvSpPr>
        <p:spPr>
          <a:xfrm rot="0">
            <a:off x="9232305" y="4324261"/>
            <a:ext cx="17244055" cy="580935"/>
          </a:xfrm>
          <a:prstGeom prst="rect">
            <a:avLst/>
          </a:prstGeom>
        </p:spPr>
        <p:txBody>
          <a:bodyPr anchor="t" rtlCol="false" tIns="0" lIns="0" bIns="0" rIns="0">
            <a:spAutoFit/>
          </a:bodyPr>
          <a:lstStyle/>
          <a:p>
            <a:pPr algn="just">
              <a:lnSpc>
                <a:spcPts val="4729"/>
              </a:lnSpc>
            </a:pPr>
            <a:r>
              <a:rPr lang="en-US" sz="3378" b="true">
                <a:solidFill>
                  <a:srgbClr val="000000"/>
                </a:solidFill>
                <a:latin typeface="Atkinson Hyperlegible Bold"/>
                <a:ea typeface="Atkinson Hyperlegible Bold"/>
                <a:cs typeface="Atkinson Hyperlegible Bold"/>
                <a:sym typeface="Atkinson Hyperlegible Bold"/>
              </a:rPr>
              <a:t>Test and score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7" id="7"/>
          <p:cNvSpPr/>
          <p:nvPr/>
        </p:nvSpPr>
        <p:spPr>
          <a:xfrm flipH="false" flipV="false" rot="0">
            <a:off x="1446386" y="2654049"/>
            <a:ext cx="10288821" cy="3613011"/>
          </a:xfrm>
          <a:custGeom>
            <a:avLst/>
            <a:gdLst/>
            <a:ahLst/>
            <a:cxnLst/>
            <a:rect r="r" b="b" t="t" l="l"/>
            <a:pathLst>
              <a:path h="3613011" w="10288821">
                <a:moveTo>
                  <a:pt x="0" y="0"/>
                </a:moveTo>
                <a:lnTo>
                  <a:pt x="10288821" y="0"/>
                </a:lnTo>
                <a:lnTo>
                  <a:pt x="10288821" y="3613011"/>
                </a:lnTo>
                <a:lnTo>
                  <a:pt x="0" y="3613011"/>
                </a:lnTo>
                <a:lnTo>
                  <a:pt x="0" y="0"/>
                </a:lnTo>
                <a:close/>
              </a:path>
            </a:pathLst>
          </a:custGeom>
          <a:blipFill>
            <a:blip r:embed="rId3"/>
            <a:stretch>
              <a:fillRect l="0" t="0" r="-25748" b="0"/>
            </a:stretch>
          </a:blipFill>
          <a:ln w="38100" cap="sq">
            <a:solidFill>
              <a:srgbClr val="000000"/>
            </a:solidFill>
            <a:prstDash val="solid"/>
            <a:miter/>
          </a:ln>
        </p:spPr>
      </p:sp>
      <p:sp>
        <p:nvSpPr>
          <p:cNvPr name="Freeform 8" id="8"/>
          <p:cNvSpPr/>
          <p:nvPr/>
        </p:nvSpPr>
        <p:spPr>
          <a:xfrm flipH="false" flipV="false" rot="0">
            <a:off x="5704387" y="6684950"/>
            <a:ext cx="12061640" cy="3544350"/>
          </a:xfrm>
          <a:custGeom>
            <a:avLst/>
            <a:gdLst/>
            <a:ahLst/>
            <a:cxnLst/>
            <a:rect r="r" b="b" t="t" l="l"/>
            <a:pathLst>
              <a:path h="3544350" w="12061640">
                <a:moveTo>
                  <a:pt x="0" y="0"/>
                </a:moveTo>
                <a:lnTo>
                  <a:pt x="12061640" y="0"/>
                </a:lnTo>
                <a:lnTo>
                  <a:pt x="12061640" y="3544350"/>
                </a:lnTo>
                <a:lnTo>
                  <a:pt x="0" y="3544350"/>
                </a:lnTo>
                <a:lnTo>
                  <a:pt x="0" y="0"/>
                </a:lnTo>
                <a:close/>
              </a:path>
            </a:pathLst>
          </a:custGeom>
          <a:blipFill>
            <a:blip r:embed="rId4"/>
            <a:stretch>
              <a:fillRect l="0" t="0" r="0" b="0"/>
            </a:stretch>
          </a:blipFill>
          <a:ln w="38100" cap="sq">
            <a:solidFill>
              <a:srgbClr val="000000"/>
            </a:solidFill>
            <a:prstDash val="solid"/>
            <a:miter/>
          </a:ln>
        </p:spPr>
      </p:sp>
      <p:sp>
        <p:nvSpPr>
          <p:cNvPr name="TextBox 9" id="9"/>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6.b.Comparison with Naive Bayes</a:t>
            </a:r>
          </a:p>
        </p:txBody>
      </p:sp>
      <p:sp>
        <p:nvSpPr>
          <p:cNvPr name="TextBox 10" id="10"/>
          <p:cNvSpPr txBox="true"/>
          <p:nvPr/>
        </p:nvSpPr>
        <p:spPr>
          <a:xfrm rot="0">
            <a:off x="6590797" y="2004778"/>
            <a:ext cx="17244055" cy="1181010"/>
          </a:xfrm>
          <a:prstGeom prst="rect">
            <a:avLst/>
          </a:prstGeom>
        </p:spPr>
        <p:txBody>
          <a:bodyPr anchor="t" rtlCol="false" tIns="0" lIns="0" bIns="0" rIns="0">
            <a:spAutoFit/>
          </a:bodyPr>
          <a:lstStyle/>
          <a:p>
            <a:pPr algn="just">
              <a:lnSpc>
                <a:spcPts val="4729"/>
              </a:lnSpc>
            </a:pPr>
            <a:r>
              <a:rPr lang="en-US" sz="3378" b="true">
                <a:solidFill>
                  <a:srgbClr val="000000"/>
                </a:solidFill>
                <a:latin typeface="Atkinson Hyperlegible Bold"/>
                <a:ea typeface="Atkinson Hyperlegible Bold"/>
                <a:cs typeface="Atkinson Hyperlegible Bold"/>
                <a:sym typeface="Atkinson Hyperlegible Bold"/>
              </a:rPr>
              <a:t>Confusion Matrix</a:t>
            </a:r>
          </a:p>
          <a:p>
            <a:pPr algn="just">
              <a:lnSpc>
                <a:spcPts val="4729"/>
              </a:lnSpc>
            </a:pPr>
          </a:p>
        </p:txBody>
      </p:sp>
      <p:sp>
        <p:nvSpPr>
          <p:cNvPr name="TextBox 11" id="11"/>
          <p:cNvSpPr txBox="true"/>
          <p:nvPr/>
        </p:nvSpPr>
        <p:spPr>
          <a:xfrm rot="0">
            <a:off x="11936348" y="3971586"/>
            <a:ext cx="17244055" cy="488860"/>
          </a:xfrm>
          <a:prstGeom prst="rect">
            <a:avLst/>
          </a:prstGeom>
        </p:spPr>
        <p:txBody>
          <a:bodyPr anchor="t" rtlCol="false" tIns="0" lIns="0" bIns="0" rIns="0">
            <a:spAutoFit/>
          </a:bodyPr>
          <a:lstStyle/>
          <a:p>
            <a:pPr algn="just">
              <a:lnSpc>
                <a:spcPts val="4029"/>
              </a:lnSpc>
            </a:pPr>
            <a:r>
              <a:rPr lang="en-US" sz="2878">
                <a:solidFill>
                  <a:srgbClr val="000000"/>
                </a:solidFill>
                <a:latin typeface="Atkinson Hyperlegible"/>
                <a:ea typeface="Atkinson Hyperlegible"/>
                <a:cs typeface="Atkinson Hyperlegible"/>
                <a:sym typeface="Atkinson Hyperlegible"/>
              </a:rPr>
              <a:t>KNN</a:t>
            </a:r>
          </a:p>
        </p:txBody>
      </p:sp>
      <p:sp>
        <p:nvSpPr>
          <p:cNvPr name="TextBox 12" id="12"/>
          <p:cNvSpPr txBox="true"/>
          <p:nvPr/>
        </p:nvSpPr>
        <p:spPr>
          <a:xfrm rot="0">
            <a:off x="2828025" y="8184120"/>
            <a:ext cx="2224819" cy="488860"/>
          </a:xfrm>
          <a:prstGeom prst="rect">
            <a:avLst/>
          </a:prstGeom>
        </p:spPr>
        <p:txBody>
          <a:bodyPr anchor="t" rtlCol="false" tIns="0" lIns="0" bIns="0" rIns="0">
            <a:spAutoFit/>
          </a:bodyPr>
          <a:lstStyle/>
          <a:p>
            <a:pPr algn="just">
              <a:lnSpc>
                <a:spcPts val="4029"/>
              </a:lnSpc>
            </a:pPr>
            <a:r>
              <a:rPr lang="en-US" sz="2878">
                <a:solidFill>
                  <a:srgbClr val="000000"/>
                </a:solidFill>
                <a:latin typeface="Atkinson Hyperlegible"/>
                <a:ea typeface="Atkinson Hyperlegible"/>
                <a:cs typeface="Atkinson Hyperlegible"/>
                <a:sym typeface="Atkinson Hyperlegible"/>
              </a:rPr>
              <a:t>Naive Bayes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graphicFrame>
        <p:nvGraphicFramePr>
          <p:cNvPr name="Object 7" id="7"/>
          <p:cNvGraphicFramePr/>
          <p:nvPr/>
        </p:nvGraphicFramePr>
        <p:xfrm>
          <a:off x="10580414" y="2742666"/>
          <a:ext cx="5657850" cy="4400550"/>
        </p:xfrm>
        <a:graphic>
          <a:graphicData uri="http://schemas.openxmlformats.org/presentationml/2006/ole">
            <p:oleObj imgW="6781800" imgH="5524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8" id="8"/>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6.b.Comparison with Naive Bayes</a:t>
            </a:r>
          </a:p>
        </p:txBody>
      </p:sp>
      <p:sp>
        <p:nvSpPr>
          <p:cNvPr name="TextBox 9" id="9"/>
          <p:cNvSpPr txBox="true"/>
          <p:nvPr/>
        </p:nvSpPr>
        <p:spPr>
          <a:xfrm rot="0">
            <a:off x="521973" y="2062999"/>
            <a:ext cx="17244055" cy="993685"/>
          </a:xfrm>
          <a:prstGeom prst="rect">
            <a:avLst/>
          </a:prstGeom>
        </p:spPr>
        <p:txBody>
          <a:bodyPr anchor="t" rtlCol="false" tIns="0" lIns="0" bIns="0" rIns="0">
            <a:spAutoFit/>
          </a:bodyPr>
          <a:lstStyle/>
          <a:p>
            <a:pPr algn="just">
              <a:lnSpc>
                <a:spcPts val="4029"/>
              </a:lnSpc>
            </a:pPr>
            <a:r>
              <a:rPr lang="en-US" sz="2878" b="true">
                <a:solidFill>
                  <a:srgbClr val="000000"/>
                </a:solidFill>
                <a:latin typeface="Atkinson Hyperlegible Bold"/>
                <a:ea typeface="Atkinson Hyperlegible Bold"/>
                <a:cs typeface="Atkinson Hyperlegible Bold"/>
                <a:sym typeface="Atkinson Hyperlegible Bold"/>
              </a:rPr>
              <a:t>Confusion Matrix</a:t>
            </a:r>
          </a:p>
          <a:p>
            <a:pPr algn="just">
              <a:lnSpc>
                <a:spcPts val="4029"/>
              </a:lnSpc>
            </a:pPr>
          </a:p>
        </p:txBody>
      </p:sp>
      <p:sp>
        <p:nvSpPr>
          <p:cNvPr name="TextBox 10" id="10"/>
          <p:cNvSpPr txBox="true"/>
          <p:nvPr/>
        </p:nvSpPr>
        <p:spPr>
          <a:xfrm rot="0">
            <a:off x="521973" y="2999534"/>
            <a:ext cx="9818439" cy="1856015"/>
          </a:xfrm>
          <a:prstGeom prst="rect">
            <a:avLst/>
          </a:prstGeom>
        </p:spPr>
        <p:txBody>
          <a:bodyPr anchor="t" rtlCol="false" tIns="0" lIns="0" bIns="0" rIns="0">
            <a:spAutoFit/>
          </a:bodyPr>
          <a:lstStyle/>
          <a:p>
            <a:pPr algn="just">
              <a:lnSpc>
                <a:spcPts val="3749"/>
              </a:lnSpc>
            </a:pPr>
            <a:r>
              <a:rPr lang="en-US" sz="2678">
                <a:solidFill>
                  <a:srgbClr val="000000"/>
                </a:solidFill>
                <a:latin typeface="Atkinson Hyperlegible"/>
                <a:ea typeface="Atkinson Hyperlegible"/>
                <a:cs typeface="Atkinson Hyperlegible"/>
                <a:sym typeface="Atkinson Hyperlegible"/>
              </a:rPr>
              <a:t>The confusion matrices show the number of products correctly and incorrectly classified across the five kitchenware categories. Values on the diagonal represent correct predictions, while off-diagonal values represent misclassifications.</a:t>
            </a:r>
          </a:p>
        </p:txBody>
      </p:sp>
      <p:sp>
        <p:nvSpPr>
          <p:cNvPr name="TextBox 11" id="11"/>
          <p:cNvSpPr txBox="true"/>
          <p:nvPr/>
        </p:nvSpPr>
        <p:spPr>
          <a:xfrm rot="0">
            <a:off x="498793" y="5410493"/>
            <a:ext cx="9864797" cy="5123090"/>
          </a:xfrm>
          <a:prstGeom prst="rect">
            <a:avLst/>
          </a:prstGeom>
        </p:spPr>
        <p:txBody>
          <a:bodyPr anchor="t" rtlCol="false" tIns="0" lIns="0" bIns="0" rIns="0">
            <a:spAutoFit/>
          </a:bodyPr>
          <a:lstStyle/>
          <a:p>
            <a:pPr algn="just">
              <a:lnSpc>
                <a:spcPts val="3749"/>
              </a:lnSpc>
            </a:pPr>
            <a:r>
              <a:rPr lang="en-US" sz="2678">
                <a:solidFill>
                  <a:srgbClr val="000000"/>
                </a:solidFill>
                <a:latin typeface="Atkinson Hyperlegible"/>
                <a:ea typeface="Atkinson Hyperlegible"/>
                <a:cs typeface="Atkinson Hyperlegible"/>
                <a:sym typeface="Atkinson Hyperlegible"/>
              </a:rPr>
              <a:t>Both models correctly classified 135 out of 262 products (51.5%). KNN performs slightly better for Cleaning Supplies and Storage &amp; Organization, while Naive Bayes performs better for Appliances. Both models show similar difficulty in classifying Cookware, whereas Utensils &amp; Gadgets has the highest number of correct predictions.</a:t>
            </a:r>
          </a:p>
          <a:p>
            <a:pPr algn="just">
              <a:lnSpc>
                <a:spcPts val="3749"/>
              </a:lnSpc>
            </a:pPr>
          </a:p>
          <a:p>
            <a:pPr algn="just">
              <a:lnSpc>
                <a:spcPts val="3749"/>
              </a:lnSpc>
            </a:pPr>
            <a:r>
              <a:rPr lang="en-US" sz="2678">
                <a:solidFill>
                  <a:srgbClr val="000000"/>
                </a:solidFill>
                <a:latin typeface="Atkinson Hyperlegible"/>
                <a:ea typeface="Atkinson Hyperlegible"/>
                <a:cs typeface="Atkinson Hyperlegible"/>
                <a:sym typeface="Atkinson Hyperlegible"/>
              </a:rPr>
              <a:t>The substantial overlap between categories indicates that price, rating and review count alone provide limited separation among some kitchenware categories.</a:t>
            </a:r>
          </a:p>
          <a:p>
            <a:pPr algn="just">
              <a:lnSpc>
                <a:spcPts val="374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TextBox 7" id="7"/>
          <p:cNvSpPr txBox="true"/>
          <p:nvPr/>
        </p:nvSpPr>
        <p:spPr>
          <a:xfrm rot="0">
            <a:off x="377543" y="2719705"/>
            <a:ext cx="17532914" cy="4780915"/>
          </a:xfrm>
          <a:prstGeom prst="rect">
            <a:avLst/>
          </a:prstGeom>
        </p:spPr>
        <p:txBody>
          <a:bodyPr anchor="t" rtlCol="false" tIns="0" lIns="0" bIns="0" rIns="0">
            <a:spAutoFit/>
          </a:bodyPr>
          <a:lstStyle/>
          <a:p>
            <a:pPr algn="just">
              <a:lnSpc>
                <a:spcPts val="4759"/>
              </a:lnSpc>
            </a:pPr>
            <a:r>
              <a:rPr lang="en-US" sz="3399">
                <a:solidFill>
                  <a:srgbClr val="000000"/>
                </a:solidFill>
                <a:latin typeface="Atkinson Hyperlegible"/>
                <a:ea typeface="Atkinson Hyperlegible"/>
                <a:cs typeface="Atkinson Hyperlegible"/>
                <a:sym typeface="Atkinson Hyperlegible"/>
              </a:rPr>
              <a:t>To test whether brand identity plays a role in classification, the dataset was split into two separate business models: Branded products (the top 15 most frequent brands, kept individually) and Generic/"Other" products (156 brands that appeared only once, grouped under "Other"). The same kNN algorithm (k=7) was applied independently to each subset using identical preprocessing and features (price, stars, reviewsCount, Brand), evaluated using 10-fold stratified cross-validation.</a:t>
            </a:r>
          </a:p>
          <a:p>
            <a:pPr algn="just">
              <a:lnSpc>
                <a:spcPts val="4759"/>
              </a:lnSpc>
            </a:pPr>
          </a:p>
          <a:p>
            <a:pPr algn="just">
              <a:lnSpc>
                <a:spcPts val="4759"/>
              </a:lnSpc>
            </a:pPr>
          </a:p>
        </p:txBody>
      </p:sp>
      <p:sp>
        <p:nvSpPr>
          <p:cNvPr name="TextBox 8" id="8"/>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6.c.Comparative Analysis with another business model</a:t>
            </a:r>
          </a:p>
        </p:txBody>
      </p:sp>
      <p:sp>
        <p:nvSpPr>
          <p:cNvPr name="TextBox 9" id="9"/>
          <p:cNvSpPr txBox="true"/>
          <p:nvPr/>
        </p:nvSpPr>
        <p:spPr>
          <a:xfrm rot="0">
            <a:off x="377543" y="6482750"/>
            <a:ext cx="17532914" cy="629920"/>
          </a:xfrm>
          <a:prstGeom prst="rect">
            <a:avLst/>
          </a:prstGeom>
        </p:spPr>
        <p:txBody>
          <a:bodyPr anchor="t" rtlCol="false" tIns="0" lIns="0" bIns="0" rIns="0">
            <a:spAutoFit/>
          </a:bodyPr>
          <a:lstStyle/>
          <a:p>
            <a:pPr algn="just">
              <a:lnSpc>
                <a:spcPts val="5179"/>
              </a:lnSpc>
            </a:pPr>
            <a:r>
              <a:rPr lang="en-US" sz="3699" b="true">
                <a:solidFill>
                  <a:srgbClr val="000000"/>
                </a:solidFill>
                <a:latin typeface="Atkinson Hyperlegible Bold"/>
                <a:ea typeface="Atkinson Hyperlegible Bold"/>
                <a:cs typeface="Atkinson Hyperlegible Bold"/>
                <a:sym typeface="Atkinson Hyperlegible Bold"/>
              </a:rPr>
              <a:t>Test and Score </a:t>
            </a:r>
          </a:p>
        </p:txBody>
      </p:sp>
      <p:sp>
        <p:nvSpPr>
          <p:cNvPr name="Freeform 10" id="10"/>
          <p:cNvSpPr/>
          <p:nvPr/>
        </p:nvSpPr>
        <p:spPr>
          <a:xfrm flipH="false" flipV="false" rot="0">
            <a:off x="377543" y="7500620"/>
            <a:ext cx="7708916" cy="1647908"/>
          </a:xfrm>
          <a:custGeom>
            <a:avLst/>
            <a:gdLst/>
            <a:ahLst/>
            <a:cxnLst/>
            <a:rect r="r" b="b" t="t" l="l"/>
            <a:pathLst>
              <a:path h="1647908" w="7708916">
                <a:moveTo>
                  <a:pt x="0" y="0"/>
                </a:moveTo>
                <a:lnTo>
                  <a:pt x="7708916" y="0"/>
                </a:lnTo>
                <a:lnTo>
                  <a:pt x="7708916" y="1647908"/>
                </a:lnTo>
                <a:lnTo>
                  <a:pt x="0" y="1647908"/>
                </a:lnTo>
                <a:lnTo>
                  <a:pt x="0" y="0"/>
                </a:lnTo>
                <a:close/>
              </a:path>
            </a:pathLst>
          </a:custGeom>
          <a:blipFill>
            <a:blip r:embed="rId3"/>
            <a:stretch>
              <a:fillRect l="0" t="0" r="-2304" b="-28848"/>
            </a:stretch>
          </a:blipFill>
          <a:ln w="38100" cap="sq">
            <a:solidFill>
              <a:srgbClr val="000000"/>
            </a:solidFill>
            <a:prstDash val="solid"/>
            <a:miter/>
          </a:ln>
        </p:spPr>
      </p:sp>
      <p:sp>
        <p:nvSpPr>
          <p:cNvPr name="Freeform 11" id="11"/>
          <p:cNvSpPr/>
          <p:nvPr/>
        </p:nvSpPr>
        <p:spPr>
          <a:xfrm flipH="false" flipV="false" rot="0">
            <a:off x="8867191" y="7451839"/>
            <a:ext cx="8834481" cy="1647908"/>
          </a:xfrm>
          <a:custGeom>
            <a:avLst/>
            <a:gdLst/>
            <a:ahLst/>
            <a:cxnLst/>
            <a:rect r="r" b="b" t="t" l="l"/>
            <a:pathLst>
              <a:path h="1647908" w="8834481">
                <a:moveTo>
                  <a:pt x="0" y="0"/>
                </a:moveTo>
                <a:lnTo>
                  <a:pt x="8834481" y="0"/>
                </a:lnTo>
                <a:lnTo>
                  <a:pt x="8834481" y="1647908"/>
                </a:lnTo>
                <a:lnTo>
                  <a:pt x="0" y="1647908"/>
                </a:lnTo>
                <a:lnTo>
                  <a:pt x="0" y="0"/>
                </a:lnTo>
                <a:close/>
              </a:path>
            </a:pathLst>
          </a:custGeom>
          <a:blipFill>
            <a:blip r:embed="rId4"/>
            <a:stretch>
              <a:fillRect l="0" t="0" r="0" b="-7973"/>
            </a:stretch>
          </a:blipFill>
          <a:ln w="38100" cap="sq">
            <a:solidFill>
              <a:srgbClr val="000000"/>
            </a:solidFill>
            <a:prstDash val="solid"/>
            <a:miter/>
          </a:ln>
        </p:spPr>
      </p:sp>
      <p:sp>
        <p:nvSpPr>
          <p:cNvPr name="TextBox 12" id="12"/>
          <p:cNvSpPr txBox="true"/>
          <p:nvPr/>
        </p:nvSpPr>
        <p:spPr>
          <a:xfrm rot="0">
            <a:off x="2708104" y="9304112"/>
            <a:ext cx="3047793" cy="481330"/>
          </a:xfrm>
          <a:prstGeom prst="rect">
            <a:avLst/>
          </a:prstGeom>
        </p:spPr>
        <p:txBody>
          <a:bodyPr anchor="t" rtlCol="false" tIns="0" lIns="0" bIns="0" rIns="0">
            <a:spAutoFit/>
          </a:bodyPr>
          <a:lstStyle/>
          <a:p>
            <a:pPr algn="just">
              <a:lnSpc>
                <a:spcPts val="3920"/>
              </a:lnSpc>
            </a:pPr>
            <a:r>
              <a:rPr lang="en-US" sz="2800">
                <a:solidFill>
                  <a:srgbClr val="000000"/>
                </a:solidFill>
                <a:latin typeface="Atkinson Hyperlegible"/>
                <a:ea typeface="Atkinson Hyperlegible"/>
                <a:cs typeface="Atkinson Hyperlegible"/>
                <a:sym typeface="Atkinson Hyperlegible"/>
              </a:rPr>
              <a:t>Branded subset </a:t>
            </a:r>
          </a:p>
        </p:txBody>
      </p:sp>
      <p:sp>
        <p:nvSpPr>
          <p:cNvPr name="TextBox 13" id="13"/>
          <p:cNvSpPr txBox="true"/>
          <p:nvPr/>
        </p:nvSpPr>
        <p:spPr>
          <a:xfrm rot="0">
            <a:off x="11556867" y="9304112"/>
            <a:ext cx="3047793" cy="481330"/>
          </a:xfrm>
          <a:prstGeom prst="rect">
            <a:avLst/>
          </a:prstGeom>
        </p:spPr>
        <p:txBody>
          <a:bodyPr anchor="t" rtlCol="false" tIns="0" lIns="0" bIns="0" rIns="0">
            <a:spAutoFit/>
          </a:bodyPr>
          <a:lstStyle/>
          <a:p>
            <a:pPr algn="just">
              <a:lnSpc>
                <a:spcPts val="3920"/>
              </a:lnSpc>
            </a:pPr>
            <a:r>
              <a:rPr lang="en-US" sz="2800">
                <a:solidFill>
                  <a:srgbClr val="000000"/>
                </a:solidFill>
                <a:latin typeface="Atkinson Hyperlegible"/>
                <a:ea typeface="Atkinson Hyperlegible"/>
                <a:cs typeface="Atkinson Hyperlegible"/>
                <a:sym typeface="Atkinson Hyperlegible"/>
              </a:rPr>
              <a:t>Generic subset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TextBox 7" id="7"/>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6.c.Comparative Analysis with another business model</a:t>
            </a:r>
          </a:p>
        </p:txBody>
      </p:sp>
      <p:sp>
        <p:nvSpPr>
          <p:cNvPr name="TextBox 8" id="8"/>
          <p:cNvSpPr txBox="true"/>
          <p:nvPr/>
        </p:nvSpPr>
        <p:spPr>
          <a:xfrm rot="0">
            <a:off x="235611" y="1491729"/>
            <a:ext cx="17532914" cy="5960110"/>
          </a:xfrm>
          <a:prstGeom prst="rect">
            <a:avLst/>
          </a:prstGeom>
        </p:spPr>
        <p:txBody>
          <a:bodyPr anchor="t" rtlCol="false" tIns="0" lIns="0" bIns="0" rIns="0">
            <a:spAutoFit/>
          </a:bodyPr>
          <a:lstStyle/>
          <a:p>
            <a:pPr algn="just">
              <a:lnSpc>
                <a:spcPts val="4340"/>
              </a:lnSpc>
            </a:pPr>
          </a:p>
          <a:p>
            <a:pPr algn="just">
              <a:lnSpc>
                <a:spcPts val="4340"/>
              </a:lnSpc>
            </a:pPr>
          </a:p>
          <a:p>
            <a:pPr algn="just">
              <a:lnSpc>
                <a:spcPts val="4340"/>
              </a:lnSpc>
            </a:pPr>
            <a:r>
              <a:rPr lang="en-US" sz="3100">
                <a:solidFill>
                  <a:srgbClr val="000000"/>
                </a:solidFill>
                <a:latin typeface="Atkinson Hyperlegible"/>
                <a:ea typeface="Atkinson Hyperlegible"/>
                <a:cs typeface="Atkinson Hyperlegible"/>
                <a:sym typeface="Atkinson Hyperlegible"/>
              </a:rPr>
              <a:t>Both subsets perform substantially worse than the full-dataset model (51.5% accuracy, AUC 0.725, MCC 0.332), and the MCC values close to zero indicate both branded and generic sellers classify only marginally better than random guessing. This suggests that brand identity alone is not the primary driver of category separability — rather, the original model's predictive strength came from having sufficient combined data across price, rating, and review patterns. Splitting the market into "branded" and "generic" business models does not reveal meaningfully different classification behavior between the two; instead, it shows that both business types depend on the full market context to be classified accurately and that sample size reduction — not seller type — is the main factor behind the accuracy drop.</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TextBox 7" id="7"/>
          <p:cNvSpPr txBox="true"/>
          <p:nvPr/>
        </p:nvSpPr>
        <p:spPr>
          <a:xfrm rot="0">
            <a:off x="11108131" y="3458398"/>
            <a:ext cx="17532914" cy="629920"/>
          </a:xfrm>
          <a:prstGeom prst="rect">
            <a:avLst/>
          </a:prstGeom>
        </p:spPr>
        <p:txBody>
          <a:bodyPr anchor="t" rtlCol="false" tIns="0" lIns="0" bIns="0" rIns="0">
            <a:spAutoFit/>
          </a:bodyPr>
          <a:lstStyle/>
          <a:p>
            <a:pPr algn="just">
              <a:lnSpc>
                <a:spcPts val="5179"/>
              </a:lnSpc>
            </a:pPr>
            <a:r>
              <a:rPr lang="en-US" sz="3699" b="true">
                <a:solidFill>
                  <a:srgbClr val="000000"/>
                </a:solidFill>
                <a:latin typeface="Atkinson Hyperlegible Bold"/>
                <a:ea typeface="Atkinson Hyperlegible Bold"/>
                <a:cs typeface="Atkinson Hyperlegible Bold"/>
                <a:sym typeface="Atkinson Hyperlegible Bold"/>
              </a:rPr>
              <a:t>Confusion Matrix</a:t>
            </a:r>
          </a:p>
        </p:txBody>
      </p:sp>
      <p:sp>
        <p:nvSpPr>
          <p:cNvPr name="Freeform 8" id="8"/>
          <p:cNvSpPr/>
          <p:nvPr/>
        </p:nvSpPr>
        <p:spPr>
          <a:xfrm flipH="false" flipV="false" rot="0">
            <a:off x="332982" y="2591152"/>
            <a:ext cx="9549925" cy="3642188"/>
          </a:xfrm>
          <a:custGeom>
            <a:avLst/>
            <a:gdLst/>
            <a:ahLst/>
            <a:cxnLst/>
            <a:rect r="r" b="b" t="t" l="l"/>
            <a:pathLst>
              <a:path h="3642188" w="9549925">
                <a:moveTo>
                  <a:pt x="0" y="0"/>
                </a:moveTo>
                <a:lnTo>
                  <a:pt x="9549925" y="0"/>
                </a:lnTo>
                <a:lnTo>
                  <a:pt x="9549925" y="3642188"/>
                </a:lnTo>
                <a:lnTo>
                  <a:pt x="0" y="3642188"/>
                </a:lnTo>
                <a:lnTo>
                  <a:pt x="0" y="0"/>
                </a:lnTo>
                <a:close/>
              </a:path>
            </a:pathLst>
          </a:custGeom>
          <a:blipFill>
            <a:blip r:embed="rId3"/>
            <a:stretch>
              <a:fillRect l="-3461" t="0" r="-10772" b="0"/>
            </a:stretch>
          </a:blipFill>
          <a:ln w="38100" cap="sq">
            <a:solidFill>
              <a:srgbClr val="000000"/>
            </a:solidFill>
            <a:prstDash val="solid"/>
            <a:miter/>
          </a:ln>
        </p:spPr>
      </p:sp>
      <p:sp>
        <p:nvSpPr>
          <p:cNvPr name="Freeform 9" id="9"/>
          <p:cNvSpPr/>
          <p:nvPr/>
        </p:nvSpPr>
        <p:spPr>
          <a:xfrm flipH="false" flipV="false" rot="0">
            <a:off x="7305254" y="6406868"/>
            <a:ext cx="10267012" cy="3495015"/>
          </a:xfrm>
          <a:custGeom>
            <a:avLst/>
            <a:gdLst/>
            <a:ahLst/>
            <a:cxnLst/>
            <a:rect r="r" b="b" t="t" l="l"/>
            <a:pathLst>
              <a:path h="3495015" w="10267012">
                <a:moveTo>
                  <a:pt x="0" y="0"/>
                </a:moveTo>
                <a:lnTo>
                  <a:pt x="10267013" y="0"/>
                </a:lnTo>
                <a:lnTo>
                  <a:pt x="10267013" y="3495015"/>
                </a:lnTo>
                <a:lnTo>
                  <a:pt x="0" y="3495015"/>
                </a:lnTo>
                <a:lnTo>
                  <a:pt x="0" y="0"/>
                </a:lnTo>
                <a:close/>
              </a:path>
            </a:pathLst>
          </a:custGeom>
          <a:blipFill>
            <a:blip r:embed="rId4"/>
            <a:stretch>
              <a:fillRect l="-2633" t="-2215" r="-2688" b="0"/>
            </a:stretch>
          </a:blipFill>
          <a:ln w="38100" cap="sq">
            <a:solidFill>
              <a:srgbClr val="000000"/>
            </a:solidFill>
            <a:prstDash val="solid"/>
            <a:miter/>
          </a:ln>
        </p:spPr>
      </p:sp>
      <p:sp>
        <p:nvSpPr>
          <p:cNvPr name="TextBox 10" id="10"/>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6.c.Comparative Analysis with another business model</a:t>
            </a:r>
          </a:p>
        </p:txBody>
      </p:sp>
      <p:sp>
        <p:nvSpPr>
          <p:cNvPr name="TextBox 11" id="11"/>
          <p:cNvSpPr txBox="true"/>
          <p:nvPr/>
        </p:nvSpPr>
        <p:spPr>
          <a:xfrm rot="0">
            <a:off x="2814926" y="6349718"/>
            <a:ext cx="3047793" cy="481330"/>
          </a:xfrm>
          <a:prstGeom prst="rect">
            <a:avLst/>
          </a:prstGeom>
        </p:spPr>
        <p:txBody>
          <a:bodyPr anchor="t" rtlCol="false" tIns="0" lIns="0" bIns="0" rIns="0">
            <a:spAutoFit/>
          </a:bodyPr>
          <a:lstStyle/>
          <a:p>
            <a:pPr algn="just">
              <a:lnSpc>
                <a:spcPts val="3920"/>
              </a:lnSpc>
            </a:pPr>
            <a:r>
              <a:rPr lang="en-US" sz="2800">
                <a:solidFill>
                  <a:srgbClr val="000000"/>
                </a:solidFill>
                <a:latin typeface="Atkinson Hyperlegible"/>
                <a:ea typeface="Atkinson Hyperlegible"/>
                <a:cs typeface="Atkinson Hyperlegible"/>
                <a:sym typeface="Atkinson Hyperlegible"/>
              </a:rPr>
              <a:t>Branded subset </a:t>
            </a:r>
          </a:p>
        </p:txBody>
      </p:sp>
      <p:sp>
        <p:nvSpPr>
          <p:cNvPr name="TextBox 12" id="12"/>
          <p:cNvSpPr txBox="true"/>
          <p:nvPr/>
        </p:nvSpPr>
        <p:spPr>
          <a:xfrm rot="0">
            <a:off x="11642326" y="5752010"/>
            <a:ext cx="3047793" cy="481330"/>
          </a:xfrm>
          <a:prstGeom prst="rect">
            <a:avLst/>
          </a:prstGeom>
        </p:spPr>
        <p:txBody>
          <a:bodyPr anchor="t" rtlCol="false" tIns="0" lIns="0" bIns="0" rIns="0">
            <a:spAutoFit/>
          </a:bodyPr>
          <a:lstStyle/>
          <a:p>
            <a:pPr algn="just">
              <a:lnSpc>
                <a:spcPts val="3920"/>
              </a:lnSpc>
            </a:pPr>
            <a:r>
              <a:rPr lang="en-US" sz="2800">
                <a:solidFill>
                  <a:srgbClr val="000000"/>
                </a:solidFill>
                <a:latin typeface="Atkinson Hyperlegible"/>
                <a:ea typeface="Atkinson Hyperlegible"/>
                <a:cs typeface="Atkinson Hyperlegible"/>
                <a:sym typeface="Atkinson Hyperlegible"/>
              </a:rPr>
              <a:t>Generic subset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804231"/>
            <a:chOff x="0" y="0"/>
            <a:chExt cx="4816593" cy="475188"/>
          </a:xfrm>
        </p:grpSpPr>
        <p:sp>
          <p:nvSpPr>
            <p:cNvPr name="Freeform 3" id="3"/>
            <p:cNvSpPr/>
            <p:nvPr/>
          </p:nvSpPr>
          <p:spPr>
            <a:xfrm flipH="false" flipV="false" rot="0">
              <a:off x="0" y="0"/>
              <a:ext cx="4816592" cy="475188"/>
            </a:xfrm>
            <a:custGeom>
              <a:avLst/>
              <a:gdLst/>
              <a:ahLst/>
              <a:cxnLst/>
              <a:rect r="r" b="b" t="t" l="l"/>
              <a:pathLst>
                <a:path h="475188" w="4816592">
                  <a:moveTo>
                    <a:pt x="0" y="0"/>
                  </a:moveTo>
                  <a:lnTo>
                    <a:pt x="4816592" y="0"/>
                  </a:lnTo>
                  <a:lnTo>
                    <a:pt x="4816592" y="475188"/>
                  </a:lnTo>
                  <a:lnTo>
                    <a:pt x="0" y="475188"/>
                  </a:lnTo>
                  <a:close/>
                </a:path>
              </a:pathLst>
            </a:custGeom>
            <a:solidFill>
              <a:srgbClr val="FB9CA0"/>
            </a:solidFill>
            <a:ln w="28575" cap="sq">
              <a:solidFill>
                <a:srgbClr val="000000"/>
              </a:solidFill>
              <a:prstDash val="solid"/>
              <a:miter/>
            </a:ln>
          </p:spPr>
        </p:sp>
        <p:sp>
          <p:nvSpPr>
            <p:cNvPr name="TextBox 4" id="4"/>
            <p:cNvSpPr txBox="true"/>
            <p:nvPr/>
          </p:nvSpPr>
          <p:spPr>
            <a:xfrm>
              <a:off x="0" y="-38100"/>
              <a:ext cx="4816593" cy="51328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13141" y="1543050"/>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Freeform 6" id="6"/>
          <p:cNvSpPr/>
          <p:nvPr/>
        </p:nvSpPr>
        <p:spPr>
          <a:xfrm flipH="false" flipV="false" rot="0">
            <a:off x="-2016459" y="6831047"/>
            <a:ext cx="5956893" cy="5908789"/>
          </a:xfrm>
          <a:custGeom>
            <a:avLst/>
            <a:gdLst/>
            <a:ahLst/>
            <a:cxnLst/>
            <a:rect r="r" b="b" t="t" l="l"/>
            <a:pathLst>
              <a:path h="5908789" w="5956893">
                <a:moveTo>
                  <a:pt x="0" y="0"/>
                </a:moveTo>
                <a:lnTo>
                  <a:pt x="5956893" y="0"/>
                </a:lnTo>
                <a:lnTo>
                  <a:pt x="5956893" y="5908789"/>
                </a:lnTo>
                <a:lnTo>
                  <a:pt x="0" y="5908789"/>
                </a:lnTo>
                <a:lnTo>
                  <a:pt x="0" y="0"/>
                </a:lnTo>
                <a:close/>
              </a:path>
            </a:pathLst>
          </a:custGeom>
          <a:blipFill>
            <a:blip r:embed="rId2">
              <a:alphaModFix amt="32999"/>
            </a:blip>
            <a:stretch>
              <a:fillRect l="0" t="0" r="0" b="0"/>
            </a:stretch>
          </a:blipFill>
        </p:spPr>
      </p:sp>
      <p:sp>
        <p:nvSpPr>
          <p:cNvPr name="TextBox 7" id="7"/>
          <p:cNvSpPr txBox="true"/>
          <p:nvPr/>
        </p:nvSpPr>
        <p:spPr>
          <a:xfrm rot="0">
            <a:off x="235611" y="490000"/>
            <a:ext cx="17263159" cy="738506"/>
          </a:xfrm>
          <a:prstGeom prst="rect">
            <a:avLst/>
          </a:prstGeom>
        </p:spPr>
        <p:txBody>
          <a:bodyPr anchor="t" rtlCol="false" tIns="0" lIns="0" bIns="0" rIns="0">
            <a:spAutoFit/>
          </a:bodyPr>
          <a:lstStyle/>
          <a:p>
            <a:pPr algn="ctr">
              <a:lnSpc>
                <a:spcPts val="6019"/>
              </a:lnSpc>
              <a:spcBef>
                <a:spcPct val="0"/>
              </a:spcBef>
            </a:pPr>
            <a:r>
              <a:rPr lang="en-US" b="true" sz="4299">
                <a:solidFill>
                  <a:srgbClr val="000000"/>
                </a:solidFill>
                <a:latin typeface="Garet Bold"/>
                <a:ea typeface="Garet Bold"/>
                <a:cs typeface="Garet Bold"/>
                <a:sym typeface="Garet Bold"/>
              </a:rPr>
              <a:t>6.c.Comparative Analysis with another business model</a:t>
            </a:r>
          </a:p>
        </p:txBody>
      </p:sp>
      <p:sp>
        <p:nvSpPr>
          <p:cNvPr name="TextBox 8" id="8"/>
          <p:cNvSpPr txBox="true"/>
          <p:nvPr/>
        </p:nvSpPr>
        <p:spPr>
          <a:xfrm rot="0">
            <a:off x="117806" y="1485900"/>
            <a:ext cx="18052389" cy="8200143"/>
          </a:xfrm>
          <a:prstGeom prst="rect">
            <a:avLst/>
          </a:prstGeom>
        </p:spPr>
        <p:txBody>
          <a:bodyPr anchor="t" rtlCol="false" tIns="0" lIns="0" bIns="0" rIns="0">
            <a:spAutoFit/>
          </a:bodyPr>
          <a:lstStyle/>
          <a:p>
            <a:pPr algn="just">
              <a:lnSpc>
                <a:spcPts val="3861"/>
              </a:lnSpc>
            </a:pPr>
          </a:p>
          <a:p>
            <a:pPr algn="just">
              <a:lnSpc>
                <a:spcPts val="3861"/>
              </a:lnSpc>
            </a:pPr>
          </a:p>
          <a:p>
            <a:pPr algn="just">
              <a:lnSpc>
                <a:spcPts val="3861"/>
              </a:lnSpc>
            </a:pPr>
            <a:r>
              <a:rPr lang="en-US" sz="2758">
                <a:solidFill>
                  <a:srgbClr val="000000"/>
                </a:solidFill>
                <a:latin typeface="Atkinson Hyperlegible"/>
                <a:ea typeface="Atkinson Hyperlegible"/>
                <a:cs typeface="Atkinson Hyperlegible"/>
                <a:sym typeface="Atkinson Hyperlegible"/>
              </a:rPr>
              <a:t>The confusion matrices reveal where each subset breaks down. The Branded model (63 products) struggles heavily with Appliances (0/4 correct — completely missed) and Cookware (1/12), with most branded Cleaning Supplies and Storage &amp; Organization items still frequently confused with each other. The Generic/Other model (199 products) shows the opposite pattern: it completely fails on Cleaning Supplies (0/23 correct, all misclassified — mostly into Utensils &amp; Gadgets) and performs weakly on Appliances and Storage &amp; Organization, while doing comparatively well on Utensils &amp; Gadgets (42/85), likely because this category dominates the generic subset.</a:t>
            </a:r>
          </a:p>
          <a:p>
            <a:pPr algn="just">
              <a:lnSpc>
                <a:spcPts val="3861"/>
              </a:lnSpc>
            </a:pPr>
          </a:p>
          <a:p>
            <a:pPr algn="just">
              <a:lnSpc>
                <a:spcPts val="3861"/>
              </a:lnSpc>
            </a:pPr>
            <a:r>
              <a:rPr lang="en-US" sz="2758">
                <a:solidFill>
                  <a:srgbClr val="000000"/>
                </a:solidFill>
                <a:latin typeface="Atkinson Hyperlegible"/>
                <a:ea typeface="Atkinson Hyperlegible"/>
                <a:cs typeface="Atkinson Hyperlegible"/>
                <a:sym typeface="Atkinson Hyperlegible"/>
              </a:rPr>
              <a:t>This confirms the earlier finding from the performance metrics: neither business model achieves reliable classification (both near-MCC-zero), but the nature of their errors differs. Branded products are too few and too spread across categories for the model to learn stable patterns, while generic products are heavily skewed toward Utensils &amp; Gadgets, causing the model to over-predict that class at the expense of others. This reinforces that category separability depends on having a large, balanced dataset spanning the full market — segmenting by brand vs. generic seller type does not itself produce more distinguishable business patterns, and in fact fragments the data enough to weaken predictions further in both directions.</a:t>
            </a:r>
          </a:p>
          <a:p>
            <a:pPr algn="just">
              <a:lnSpc>
                <a:spcPts val="3861"/>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4074069">
            <a:off x="6222302" y="-1823593"/>
            <a:ext cx="6100195" cy="6305111"/>
          </a:xfrm>
          <a:custGeom>
            <a:avLst/>
            <a:gdLst/>
            <a:ahLst/>
            <a:cxnLst/>
            <a:rect r="r" b="b" t="t" l="l"/>
            <a:pathLst>
              <a:path h="6305111" w="6100195">
                <a:moveTo>
                  <a:pt x="0" y="0"/>
                </a:moveTo>
                <a:lnTo>
                  <a:pt x="6100194" y="0"/>
                </a:lnTo>
                <a:lnTo>
                  <a:pt x="6100194" y="6305111"/>
                </a:lnTo>
                <a:lnTo>
                  <a:pt x="0" y="6305111"/>
                </a:lnTo>
                <a:lnTo>
                  <a:pt x="0" y="0"/>
                </a:lnTo>
                <a:close/>
              </a:path>
            </a:pathLst>
          </a:custGeom>
          <a:blipFill>
            <a:blip r:embed="rId2">
              <a:alphaModFix amt="59000"/>
            </a:blip>
            <a:stretch>
              <a:fillRect l="0" t="0" r="0" b="0"/>
            </a:stretch>
          </a:blipFill>
        </p:spPr>
      </p:sp>
      <p:grpSp>
        <p:nvGrpSpPr>
          <p:cNvPr name="Group 3" id="3"/>
          <p:cNvGrpSpPr/>
          <p:nvPr/>
        </p:nvGrpSpPr>
        <p:grpSpPr>
          <a:xfrm rot="0">
            <a:off x="9272399" y="0"/>
            <a:ext cx="9100714" cy="10287000"/>
            <a:chOff x="0" y="0"/>
            <a:chExt cx="2396896" cy="2709333"/>
          </a:xfrm>
        </p:grpSpPr>
        <p:sp>
          <p:nvSpPr>
            <p:cNvPr name="Freeform 4" id="4"/>
            <p:cNvSpPr/>
            <p:nvPr/>
          </p:nvSpPr>
          <p:spPr>
            <a:xfrm flipH="false" flipV="false" rot="0">
              <a:off x="0" y="0"/>
              <a:ext cx="2396896" cy="2709333"/>
            </a:xfrm>
            <a:custGeom>
              <a:avLst/>
              <a:gdLst/>
              <a:ahLst/>
              <a:cxnLst/>
              <a:rect r="r" b="b" t="t" l="l"/>
              <a:pathLst>
                <a:path h="2709333" w="2396896">
                  <a:moveTo>
                    <a:pt x="0" y="0"/>
                  </a:moveTo>
                  <a:lnTo>
                    <a:pt x="2396896" y="0"/>
                  </a:lnTo>
                  <a:lnTo>
                    <a:pt x="2396896" y="2709333"/>
                  </a:lnTo>
                  <a:lnTo>
                    <a:pt x="0" y="2709333"/>
                  </a:lnTo>
                  <a:close/>
                </a:path>
              </a:pathLst>
            </a:custGeom>
            <a:solidFill>
              <a:srgbClr val="FBF7C4"/>
            </a:solidFill>
            <a:ln w="28575" cap="sq">
              <a:solidFill>
                <a:srgbClr val="000000"/>
              </a:solidFill>
              <a:prstDash val="solid"/>
              <a:miter/>
            </a:ln>
          </p:spPr>
        </p:sp>
        <p:sp>
          <p:nvSpPr>
            <p:cNvPr name="TextBox 5" id="5"/>
            <p:cNvSpPr txBox="true"/>
            <p:nvPr/>
          </p:nvSpPr>
          <p:spPr>
            <a:xfrm>
              <a:off x="0" y="-38100"/>
              <a:ext cx="2396896" cy="27474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160151" y="4740910"/>
            <a:ext cx="7099149" cy="728980"/>
          </a:xfrm>
          <a:prstGeom prst="rect">
            <a:avLst/>
          </a:prstGeom>
        </p:spPr>
        <p:txBody>
          <a:bodyPr anchor="t" rtlCol="false" tIns="0" lIns="0" bIns="0" rIns="0">
            <a:spAutoFit/>
          </a:bodyPr>
          <a:lstStyle/>
          <a:p>
            <a:pPr algn="ctr">
              <a:lnSpc>
                <a:spcPts val="6020"/>
              </a:lnSpc>
              <a:spcBef>
                <a:spcPct val="0"/>
              </a:spcBef>
            </a:pPr>
            <a:r>
              <a:rPr lang="en-US" b="true" sz="4300">
                <a:solidFill>
                  <a:srgbClr val="000000"/>
                </a:solidFill>
                <a:latin typeface="Garet Bold"/>
                <a:ea typeface="Garet Bold"/>
                <a:cs typeface="Garet Bold"/>
                <a:sym typeface="Garet Bold"/>
              </a:rPr>
              <a:t>7.Future Scope</a:t>
            </a:r>
          </a:p>
        </p:txBody>
      </p:sp>
      <p:sp>
        <p:nvSpPr>
          <p:cNvPr name="TextBox 7" id="7"/>
          <p:cNvSpPr txBox="true"/>
          <p:nvPr/>
        </p:nvSpPr>
        <p:spPr>
          <a:xfrm rot="0">
            <a:off x="239350" y="556260"/>
            <a:ext cx="8904650" cy="9760586"/>
          </a:xfrm>
          <a:prstGeom prst="rect">
            <a:avLst/>
          </a:prstGeom>
        </p:spPr>
        <p:txBody>
          <a:bodyPr anchor="t" rtlCol="false" tIns="0" lIns="0" bIns="0" rIns="0">
            <a:spAutoFit/>
          </a:bodyPr>
          <a:lstStyle/>
          <a:p>
            <a:pPr algn="just" marL="669285" indent="-334642" lvl="1">
              <a:lnSpc>
                <a:spcPts val="4339"/>
              </a:lnSpc>
              <a:buFont typeface="Arial"/>
              <a:buChar char="•"/>
            </a:pPr>
            <a:r>
              <a:rPr lang="en-US" sz="3099">
                <a:solidFill>
                  <a:srgbClr val="000000"/>
                </a:solidFill>
                <a:latin typeface="Atkinson Hyperlegible"/>
                <a:ea typeface="Atkinson Hyperlegible"/>
                <a:cs typeface="Atkinson Hyperlegible"/>
                <a:sym typeface="Atkinson Hyperlegible"/>
              </a:rPr>
              <a:t>Add text features: Use product titles and descriptions through TF-IDF or keyword extraction.</a:t>
            </a:r>
          </a:p>
          <a:p>
            <a:pPr algn="just">
              <a:lnSpc>
                <a:spcPts val="4339"/>
              </a:lnSpc>
            </a:pPr>
          </a:p>
          <a:p>
            <a:pPr algn="just" marL="669285" indent="-334642" lvl="1">
              <a:lnSpc>
                <a:spcPts val="4339"/>
              </a:lnSpc>
              <a:buFont typeface="Arial"/>
              <a:buChar char="•"/>
            </a:pPr>
            <a:r>
              <a:rPr lang="en-US" sz="3099">
                <a:solidFill>
                  <a:srgbClr val="000000"/>
                </a:solidFill>
                <a:latin typeface="Atkinson Hyperlegible"/>
                <a:ea typeface="Atkinson Hyperlegible"/>
                <a:cs typeface="Atkinson Hyperlegible"/>
                <a:sym typeface="Atkinson Hyperlegible"/>
              </a:rPr>
              <a:t>Incr</a:t>
            </a:r>
            <a:r>
              <a:rPr lang="en-US" sz="3099">
                <a:solidFill>
                  <a:srgbClr val="000000"/>
                </a:solidFill>
                <a:latin typeface="Atkinson Hyperlegible"/>
                <a:ea typeface="Atkinson Hyperlegible"/>
                <a:cs typeface="Atkinson Hyperlegible"/>
                <a:sym typeface="Atkinson Hyperlegible"/>
              </a:rPr>
              <a:t>ease dataset size: Use more balanced data across categories.</a:t>
            </a:r>
          </a:p>
          <a:p>
            <a:pPr algn="just">
              <a:lnSpc>
                <a:spcPts val="4339"/>
              </a:lnSpc>
            </a:pPr>
          </a:p>
          <a:p>
            <a:pPr algn="just" marL="669285" indent="-334642" lvl="1">
              <a:lnSpc>
                <a:spcPts val="4339"/>
              </a:lnSpc>
              <a:buFont typeface="Arial"/>
              <a:buChar char="•"/>
            </a:pPr>
            <a:r>
              <a:rPr lang="en-US" sz="3099">
                <a:solidFill>
                  <a:srgbClr val="000000"/>
                </a:solidFill>
                <a:latin typeface="Atkinson Hyperlegible"/>
                <a:ea typeface="Atkinson Hyperlegible"/>
                <a:cs typeface="Atkinson Hyperlegible"/>
                <a:sym typeface="Atkinson Hyperlegible"/>
              </a:rPr>
              <a:t>Add product attributes: Material, dimensions, seller and fulfilment type</a:t>
            </a:r>
          </a:p>
          <a:p>
            <a:pPr algn="just">
              <a:lnSpc>
                <a:spcPts val="4339"/>
              </a:lnSpc>
            </a:pPr>
          </a:p>
          <a:p>
            <a:pPr algn="just" marL="669285" indent="-334642" lvl="1">
              <a:lnSpc>
                <a:spcPts val="4339"/>
              </a:lnSpc>
              <a:buFont typeface="Arial"/>
              <a:buChar char="•"/>
            </a:pPr>
            <a:r>
              <a:rPr lang="en-US" sz="3099">
                <a:solidFill>
                  <a:srgbClr val="000000"/>
                </a:solidFill>
                <a:latin typeface="Atkinson Hyperlegible"/>
                <a:ea typeface="Atkinson Hyperlegible"/>
                <a:cs typeface="Atkinson Hyperlegible"/>
                <a:sym typeface="Atkinson Hyperlegible"/>
              </a:rPr>
              <a:t>Expl</a:t>
            </a:r>
            <a:r>
              <a:rPr lang="en-US" sz="3099">
                <a:solidFill>
                  <a:srgbClr val="000000"/>
                </a:solidFill>
                <a:latin typeface="Atkinson Hyperlegible"/>
                <a:ea typeface="Atkinson Hyperlegible"/>
                <a:cs typeface="Atkinson Hyperlegible"/>
                <a:sym typeface="Atkinson Hyperlegible"/>
              </a:rPr>
              <a:t>ore advanced models: Apply neural networks or transformer-based methods using larger text/image datasets.</a:t>
            </a:r>
          </a:p>
          <a:p>
            <a:pPr algn="just">
              <a:lnSpc>
                <a:spcPts val="4339"/>
              </a:lnSpc>
            </a:pPr>
          </a:p>
          <a:p>
            <a:pPr algn="just" marL="669285" indent="-334642" lvl="1">
              <a:lnSpc>
                <a:spcPts val="4339"/>
              </a:lnSpc>
              <a:spcBef>
                <a:spcPct val="0"/>
              </a:spcBef>
              <a:buFont typeface="Arial"/>
              <a:buChar char="•"/>
            </a:pPr>
            <a:r>
              <a:rPr lang="en-US" sz="3099">
                <a:solidFill>
                  <a:srgbClr val="000000"/>
                </a:solidFill>
                <a:latin typeface="Atkinson Hyperlegible"/>
                <a:ea typeface="Atkinson Hyperlegible"/>
                <a:cs typeface="Atkinson Hyperlegible"/>
                <a:sym typeface="Atkinson Hyperlegible"/>
              </a:rPr>
              <a:t>Hierarchical classification: Predict the broad category first, followed by more specific sub-categories.</a:t>
            </a:r>
          </a:p>
          <a:p>
            <a:pPr algn="just">
              <a:lnSpc>
                <a:spcPts val="4339"/>
              </a:lnSpc>
              <a:spcBef>
                <a:spcPct val="0"/>
              </a:spcBef>
            </a:pPr>
          </a:p>
        </p:txBody>
      </p:sp>
      <p:sp>
        <p:nvSpPr>
          <p:cNvPr name="Freeform 8" id="8"/>
          <p:cNvSpPr/>
          <p:nvPr/>
        </p:nvSpPr>
        <p:spPr>
          <a:xfrm flipH="false" flipV="false" rot="-4074069">
            <a:off x="-834999" y="8690756"/>
            <a:ext cx="3088733" cy="3192489"/>
          </a:xfrm>
          <a:custGeom>
            <a:avLst/>
            <a:gdLst/>
            <a:ahLst/>
            <a:cxnLst/>
            <a:rect r="r" b="b" t="t" l="l"/>
            <a:pathLst>
              <a:path h="3192489" w="3088733">
                <a:moveTo>
                  <a:pt x="0" y="0"/>
                </a:moveTo>
                <a:lnTo>
                  <a:pt x="3088733" y="0"/>
                </a:lnTo>
                <a:lnTo>
                  <a:pt x="3088733" y="3192488"/>
                </a:lnTo>
                <a:lnTo>
                  <a:pt x="0" y="3192488"/>
                </a:lnTo>
                <a:lnTo>
                  <a:pt x="0" y="0"/>
                </a:lnTo>
                <a:close/>
              </a:path>
            </a:pathLst>
          </a:custGeom>
          <a:blipFill>
            <a:blip r:embed="rId2">
              <a:alphaModFix amt="34000"/>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5169217">
            <a:off x="7305018" y="7942337"/>
            <a:ext cx="7794378" cy="6448077"/>
          </a:xfrm>
          <a:custGeom>
            <a:avLst/>
            <a:gdLst/>
            <a:ahLst/>
            <a:cxnLst/>
            <a:rect r="r" b="b" t="t" l="l"/>
            <a:pathLst>
              <a:path h="6448077" w="7794378">
                <a:moveTo>
                  <a:pt x="0" y="0"/>
                </a:moveTo>
                <a:lnTo>
                  <a:pt x="7794378" y="0"/>
                </a:lnTo>
                <a:lnTo>
                  <a:pt x="7794378" y="6448077"/>
                </a:lnTo>
                <a:lnTo>
                  <a:pt x="0" y="6448077"/>
                </a:lnTo>
                <a:lnTo>
                  <a:pt x="0" y="0"/>
                </a:lnTo>
                <a:close/>
              </a:path>
            </a:pathLst>
          </a:custGeom>
          <a:blipFill>
            <a:blip r:embed="rId2"/>
            <a:stretch>
              <a:fillRect l="0" t="0" r="0" b="0"/>
            </a:stretch>
          </a:blipFill>
        </p:spPr>
      </p:sp>
      <p:sp>
        <p:nvSpPr>
          <p:cNvPr name="Freeform 3" id="3"/>
          <p:cNvSpPr/>
          <p:nvPr/>
        </p:nvSpPr>
        <p:spPr>
          <a:xfrm flipH="false" flipV="false" rot="858894">
            <a:off x="-3045854" y="5454635"/>
            <a:ext cx="7794378" cy="6448077"/>
          </a:xfrm>
          <a:custGeom>
            <a:avLst/>
            <a:gdLst/>
            <a:ahLst/>
            <a:cxnLst/>
            <a:rect r="r" b="b" t="t" l="l"/>
            <a:pathLst>
              <a:path h="6448077" w="7794378">
                <a:moveTo>
                  <a:pt x="0" y="0"/>
                </a:moveTo>
                <a:lnTo>
                  <a:pt x="7794378" y="0"/>
                </a:lnTo>
                <a:lnTo>
                  <a:pt x="7794378" y="6448077"/>
                </a:lnTo>
                <a:lnTo>
                  <a:pt x="0" y="6448077"/>
                </a:lnTo>
                <a:lnTo>
                  <a:pt x="0" y="0"/>
                </a:lnTo>
                <a:close/>
              </a:path>
            </a:pathLst>
          </a:custGeom>
          <a:blipFill>
            <a:blip r:embed="rId2"/>
            <a:stretch>
              <a:fillRect l="0" t="0" r="0" b="0"/>
            </a:stretch>
          </a:blipFill>
        </p:spPr>
      </p:sp>
      <p:sp>
        <p:nvSpPr>
          <p:cNvPr name="Freeform 4" id="4"/>
          <p:cNvSpPr/>
          <p:nvPr/>
        </p:nvSpPr>
        <p:spPr>
          <a:xfrm flipH="false" flipV="false" rot="858894">
            <a:off x="14215835" y="-1679539"/>
            <a:ext cx="5350425" cy="4426260"/>
          </a:xfrm>
          <a:custGeom>
            <a:avLst/>
            <a:gdLst/>
            <a:ahLst/>
            <a:cxnLst/>
            <a:rect r="r" b="b" t="t" l="l"/>
            <a:pathLst>
              <a:path h="4426260" w="5350425">
                <a:moveTo>
                  <a:pt x="0" y="0"/>
                </a:moveTo>
                <a:lnTo>
                  <a:pt x="5350424" y="0"/>
                </a:lnTo>
                <a:lnTo>
                  <a:pt x="5350424" y="4426261"/>
                </a:lnTo>
                <a:lnTo>
                  <a:pt x="0" y="4426261"/>
                </a:lnTo>
                <a:lnTo>
                  <a:pt x="0" y="0"/>
                </a:lnTo>
                <a:close/>
              </a:path>
            </a:pathLst>
          </a:custGeom>
          <a:blipFill>
            <a:blip r:embed="rId2"/>
            <a:stretch>
              <a:fillRect l="0" t="0" r="0" b="0"/>
            </a:stretch>
          </a:blipFill>
        </p:spPr>
      </p:sp>
      <p:grpSp>
        <p:nvGrpSpPr>
          <p:cNvPr name="Group 5" id="5"/>
          <p:cNvGrpSpPr/>
          <p:nvPr/>
        </p:nvGrpSpPr>
        <p:grpSpPr>
          <a:xfrm rot="0">
            <a:off x="-10632" y="1378005"/>
            <a:ext cx="18309264" cy="7530989"/>
            <a:chOff x="0" y="0"/>
            <a:chExt cx="4822193" cy="1983470"/>
          </a:xfrm>
        </p:grpSpPr>
        <p:sp>
          <p:nvSpPr>
            <p:cNvPr name="Freeform 6" id="6"/>
            <p:cNvSpPr/>
            <p:nvPr/>
          </p:nvSpPr>
          <p:spPr>
            <a:xfrm flipH="false" flipV="false" rot="0">
              <a:off x="0" y="0"/>
              <a:ext cx="4822193" cy="1983470"/>
            </a:xfrm>
            <a:custGeom>
              <a:avLst/>
              <a:gdLst/>
              <a:ahLst/>
              <a:cxnLst/>
              <a:rect r="r" b="b" t="t" l="l"/>
              <a:pathLst>
                <a:path h="1983470" w="4822193">
                  <a:moveTo>
                    <a:pt x="0" y="0"/>
                  </a:moveTo>
                  <a:lnTo>
                    <a:pt x="4822193" y="0"/>
                  </a:lnTo>
                  <a:lnTo>
                    <a:pt x="4822193" y="1983470"/>
                  </a:lnTo>
                  <a:lnTo>
                    <a:pt x="0" y="1983470"/>
                  </a:lnTo>
                  <a:close/>
                </a:path>
              </a:pathLst>
            </a:custGeom>
            <a:solidFill>
              <a:srgbClr val="D0FFD8"/>
            </a:solidFill>
            <a:ln w="28575" cap="sq">
              <a:solidFill>
                <a:srgbClr val="000000"/>
              </a:solidFill>
              <a:prstDash val="solid"/>
              <a:miter/>
            </a:ln>
          </p:spPr>
        </p:sp>
        <p:sp>
          <p:nvSpPr>
            <p:cNvPr name="TextBox 7" id="7"/>
            <p:cNvSpPr txBox="true"/>
            <p:nvPr/>
          </p:nvSpPr>
          <p:spPr>
            <a:xfrm>
              <a:off x="0" y="-38100"/>
              <a:ext cx="4822193" cy="202157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396953" y="1839324"/>
            <a:ext cx="15494094" cy="728980"/>
          </a:xfrm>
          <a:prstGeom prst="rect">
            <a:avLst/>
          </a:prstGeom>
        </p:spPr>
        <p:txBody>
          <a:bodyPr anchor="t" rtlCol="false" tIns="0" lIns="0" bIns="0" rIns="0">
            <a:spAutoFit/>
          </a:bodyPr>
          <a:lstStyle/>
          <a:p>
            <a:pPr algn="ctr">
              <a:lnSpc>
                <a:spcPts val="6020"/>
              </a:lnSpc>
              <a:spcBef>
                <a:spcPct val="0"/>
              </a:spcBef>
            </a:pPr>
            <a:r>
              <a:rPr lang="en-US" b="true" sz="4300">
                <a:solidFill>
                  <a:srgbClr val="000000"/>
                </a:solidFill>
                <a:latin typeface="Garet Bold"/>
                <a:ea typeface="Garet Bold"/>
                <a:cs typeface="Garet Bold"/>
                <a:sym typeface="Garet Bold"/>
              </a:rPr>
              <a:t>References</a:t>
            </a:r>
          </a:p>
        </p:txBody>
      </p:sp>
      <p:sp>
        <p:nvSpPr>
          <p:cNvPr name="TextBox 9" id="9"/>
          <p:cNvSpPr txBox="true"/>
          <p:nvPr/>
        </p:nvSpPr>
        <p:spPr>
          <a:xfrm rot="0">
            <a:off x="0" y="3130224"/>
            <a:ext cx="12850943" cy="580390"/>
          </a:xfrm>
          <a:prstGeom prst="rect">
            <a:avLst/>
          </a:prstGeom>
        </p:spPr>
        <p:txBody>
          <a:bodyPr anchor="t" rtlCol="false" tIns="0" lIns="0" bIns="0" rIns="0">
            <a:spAutoFit/>
          </a:bodyPr>
          <a:lstStyle/>
          <a:p>
            <a:pPr algn="l" marL="734059" indent="-367030" lvl="1">
              <a:lnSpc>
                <a:spcPts val="4759"/>
              </a:lnSpc>
              <a:buFont typeface="Arial"/>
              <a:buChar char="•"/>
            </a:pPr>
            <a:r>
              <a:rPr lang="en-US" sz="3399" u="sng">
                <a:solidFill>
                  <a:srgbClr val="000000"/>
                </a:solidFill>
                <a:latin typeface="Canva Sans"/>
                <a:ea typeface="Canva Sans"/>
                <a:cs typeface="Canva Sans"/>
                <a:sym typeface="Canva Sans"/>
                <a:hlinkClick r:id="rId3" tooltip="https://www.kaggle.com/datasets/kanchana1990/amazon-kitchen-best-sellers-dataset-2024/data"/>
              </a:rPr>
              <a:t>Amazon Kitchen Best Sellers Dataset 2024</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EFFF9"/>
        </a:solidFill>
      </p:bgPr>
    </p:bg>
    <p:spTree>
      <p:nvGrpSpPr>
        <p:cNvPr id="1" name=""/>
        <p:cNvGrpSpPr/>
        <p:nvPr/>
      </p:nvGrpSpPr>
      <p:grpSpPr>
        <a:xfrm>
          <a:off x="0" y="0"/>
          <a:ext cx="0" cy="0"/>
          <a:chOff x="0" y="0"/>
          <a:chExt cx="0" cy="0"/>
        </a:xfrm>
      </p:grpSpPr>
      <p:sp>
        <p:nvSpPr>
          <p:cNvPr name="Freeform 2" id="2"/>
          <p:cNvSpPr/>
          <p:nvPr/>
        </p:nvSpPr>
        <p:spPr>
          <a:xfrm flipH="false" flipV="false" rot="-10080930">
            <a:off x="-4436166" y="-1143362"/>
            <a:ext cx="14492127" cy="11988942"/>
          </a:xfrm>
          <a:custGeom>
            <a:avLst/>
            <a:gdLst/>
            <a:ahLst/>
            <a:cxnLst/>
            <a:rect r="r" b="b" t="t" l="l"/>
            <a:pathLst>
              <a:path h="11988942" w="14492127">
                <a:moveTo>
                  <a:pt x="0" y="0"/>
                </a:moveTo>
                <a:lnTo>
                  <a:pt x="14492128" y="0"/>
                </a:lnTo>
                <a:lnTo>
                  <a:pt x="14492128" y="11988942"/>
                </a:lnTo>
                <a:lnTo>
                  <a:pt x="0" y="11988942"/>
                </a:lnTo>
                <a:lnTo>
                  <a:pt x="0" y="0"/>
                </a:lnTo>
                <a:close/>
              </a:path>
            </a:pathLst>
          </a:custGeom>
          <a:blipFill>
            <a:blip r:embed="rId2">
              <a:alphaModFix amt="81000"/>
            </a:blip>
            <a:stretch>
              <a:fillRect l="0" t="0" r="0" b="0"/>
            </a:stretch>
          </a:blipFill>
        </p:spPr>
      </p:sp>
      <p:sp>
        <p:nvSpPr>
          <p:cNvPr name="TextBox 3" id="3"/>
          <p:cNvSpPr txBox="true"/>
          <p:nvPr/>
        </p:nvSpPr>
        <p:spPr>
          <a:xfrm rot="0">
            <a:off x="6001368" y="2787161"/>
            <a:ext cx="6285264" cy="2135910"/>
          </a:xfrm>
          <a:prstGeom prst="rect">
            <a:avLst/>
          </a:prstGeom>
        </p:spPr>
        <p:txBody>
          <a:bodyPr anchor="t" rtlCol="false" tIns="0" lIns="0" bIns="0" rIns="0">
            <a:spAutoFit/>
          </a:bodyPr>
          <a:lstStyle/>
          <a:p>
            <a:pPr algn="ctr">
              <a:lnSpc>
                <a:spcPts val="17480"/>
              </a:lnSpc>
              <a:spcBef>
                <a:spcPct val="0"/>
              </a:spcBef>
            </a:pPr>
            <a:r>
              <a:rPr lang="en-US" b="true" sz="12486">
                <a:solidFill>
                  <a:srgbClr val="000000"/>
                </a:solidFill>
                <a:latin typeface="Garet Bold"/>
                <a:ea typeface="Garet Bold"/>
                <a:cs typeface="Garet Bold"/>
                <a:sym typeface="Garet Bold"/>
              </a:rPr>
              <a:t>Thank</a:t>
            </a:r>
          </a:p>
        </p:txBody>
      </p:sp>
      <p:sp>
        <p:nvSpPr>
          <p:cNvPr name="TextBox 4" id="4"/>
          <p:cNvSpPr txBox="true"/>
          <p:nvPr/>
        </p:nvSpPr>
        <p:spPr>
          <a:xfrm rot="0">
            <a:off x="6198097" y="3870667"/>
            <a:ext cx="5891805" cy="2149474"/>
          </a:xfrm>
          <a:prstGeom prst="rect">
            <a:avLst/>
          </a:prstGeom>
        </p:spPr>
        <p:txBody>
          <a:bodyPr anchor="t" rtlCol="false" tIns="0" lIns="0" bIns="0" rIns="0">
            <a:spAutoFit/>
          </a:bodyPr>
          <a:lstStyle/>
          <a:p>
            <a:pPr algn="ctr">
              <a:lnSpc>
                <a:spcPts val="17500"/>
              </a:lnSpc>
              <a:spcBef>
                <a:spcPct val="0"/>
              </a:spcBef>
            </a:pPr>
            <a:r>
              <a:rPr lang="en-US" b="true" sz="12500">
                <a:solidFill>
                  <a:srgbClr val="000000"/>
                </a:solidFill>
                <a:latin typeface="Garet Bold"/>
                <a:ea typeface="Garet Bold"/>
                <a:cs typeface="Garet Bold"/>
                <a:sym typeface="Garet Bold"/>
              </a:rPr>
              <a:t>you</a:t>
            </a:r>
          </a:p>
        </p:txBody>
      </p:sp>
      <p:sp>
        <p:nvSpPr>
          <p:cNvPr name="Freeform 5" id="5"/>
          <p:cNvSpPr/>
          <p:nvPr/>
        </p:nvSpPr>
        <p:spPr>
          <a:xfrm flipH="false" flipV="false" rot="-10080930">
            <a:off x="12426555" y="4887645"/>
            <a:ext cx="10577938" cy="8750840"/>
          </a:xfrm>
          <a:custGeom>
            <a:avLst/>
            <a:gdLst/>
            <a:ahLst/>
            <a:cxnLst/>
            <a:rect r="r" b="b" t="t" l="l"/>
            <a:pathLst>
              <a:path h="8750840" w="10577938">
                <a:moveTo>
                  <a:pt x="0" y="0"/>
                </a:moveTo>
                <a:lnTo>
                  <a:pt x="10577938" y="0"/>
                </a:lnTo>
                <a:lnTo>
                  <a:pt x="10577938" y="8750840"/>
                </a:lnTo>
                <a:lnTo>
                  <a:pt x="0" y="8750840"/>
                </a:lnTo>
                <a:lnTo>
                  <a:pt x="0" y="0"/>
                </a:lnTo>
                <a:close/>
              </a:path>
            </a:pathLst>
          </a:custGeom>
          <a:blipFill>
            <a:blip r:embed="rId2">
              <a:alphaModFix amt="81000"/>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DAHSF2ccQSM</dc:identifier>
  <dcterms:modified xsi:type="dcterms:W3CDTF">2011-08-01T06:04:30Z</dcterms:modified>
  <cp:revision>1</cp:revision>
  <dc:title>White Pink and Black Modern Data Presentation</dc:title>
</cp:coreProperties>
</file>